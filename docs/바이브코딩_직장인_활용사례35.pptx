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하기" id="{3d379f57-92fd-73cb-8655-5e9b6804e613}">
          <p14:sldIdLst>
            <p14:sldId id="256"/>
            <p14:sldId id="257"/>
            <p14:sldId id="258"/>
          </p14:sldIdLst>
        </p14:section>
        <p14:section name="A. 업무 자동화" id="{e3a3ac71-937e-9440-449c-149efd0cda54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B. 사내 미니앱" id="{42640820-6126-ed93-6cfc-5676d5d37ac7}">
          <p14:sldIdLst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C. 데이터·분석" id="{cfe1f7b8-3529-3127-75bb-08def2ee1b5b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D. 콘텐츠·커뮤니케이션" id="{90d7c305-777d-a65d-2536-9aa21d3825f0}">
          <p14:sldIdLst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E. 개인 생활·재테크" id="{6612a0ed-cc8c-6588-67d4-f7b01ca1d2b3}">
          <p14:sldIdLst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F. 부업·성장·재미" id="{68297442-e724-8321-e9c4-94f1b14cb357}">
          <p14:sldIdLst>
            <p14:sldId id="289"/>
            <p14:sldId id="290"/>
            <p14:sldId id="291"/>
            <p14:sldId id="292"/>
            <p14:sldId id="293"/>
            <p14:sldId id="294"/>
          </p14:sldIdLst>
        </p14:section>
        <p14:section name="G. 제미나이 크롤링" id="{be77f981-f490-4624-bc93-4b7776e91ea3}">
          <p14:sldIdLst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마무리" id="{4e1af79d-914b-b973-8720-c0c65496dc6a}">
          <p14:sldIdLst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828800"/>
            <a:ext cx="6949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3246120"/>
            <a:ext cx="51206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OP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AS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600200" y="658368"/>
            <a:ext cx="1004011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82880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바이브코딩으로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직장인이 만드는 30가지</a:t>
            </a:r>
            <a:endParaRPr lang="en-US" sz="4400" dirty="0"/>
          </a:p>
        </p:txBody>
      </p:sp>
      <p:sp>
        <p:nvSpPr>
          <p:cNvPr id="3" name="표지 부제"/>
          <p:cNvSpPr txBox="1"/>
          <p:nvPr/>
        </p:nvSpPr>
        <p:spPr>
          <a:xfrm>
            <a:off x="822960" y="39776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개인·업무 활용 사례  ·  제작 스크립트  ·  용어 풀이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+ 보너스: 제미나이·유튜브 크롤링 5가지</a:t>
            </a:r>
            <a:endParaRPr lang="en-US" sz="1800" dirty="0"/>
          </a:p>
        </p:txBody>
      </p:sp>
      <p:sp>
        <p:nvSpPr>
          <p:cNvPr id="4" name="표지 하단"/>
          <p:cNvSpPr txBox="1"/>
          <p:nvPr/>
        </p:nvSpPr>
        <p:spPr>
          <a:xfrm>
            <a:off x="822960" y="58521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>
                    <a:alpha val="70000"/>
                  </a:schemeClr>
                </a:solidFill>
              </a:rPr>
              <a:t>7개 테마 × 5개 사례 = 35개   |   2026.10</a:t>
            </a:r>
            <a:endParaRPr lang="en-US" sz="1200" dirty="0"/>
          </a:p>
        </p:txBody>
      </p:sp>
      <p:sp>
        <p:nvSpPr>
          <p:cNvPr id="5" name="도트 1"/>
          <p:cNvSpPr/>
          <p:nvPr/>
        </p:nvSpPr>
        <p:spPr>
          <a:xfrm>
            <a:off x="8229600" y="1097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도트번호 1"/>
          <p:cNvSpPr txBox="1"/>
          <p:nvPr/>
        </p:nvSpPr>
        <p:spPr>
          <a:xfrm>
            <a:off x="822960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도트 2"/>
          <p:cNvSpPr/>
          <p:nvPr/>
        </p:nvSpPr>
        <p:spPr>
          <a:xfrm>
            <a:off x="8842248" y="1097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도트번호 2"/>
          <p:cNvSpPr txBox="1"/>
          <p:nvPr/>
        </p:nvSpPr>
        <p:spPr>
          <a:xfrm>
            <a:off x="8842248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도트 3"/>
          <p:cNvSpPr/>
          <p:nvPr/>
        </p:nvSpPr>
        <p:spPr>
          <a:xfrm>
            <a:off x="9454896" y="1097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도트번호 3"/>
          <p:cNvSpPr txBox="1"/>
          <p:nvPr/>
        </p:nvSpPr>
        <p:spPr>
          <a:xfrm>
            <a:off x="9454896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도트 4"/>
          <p:cNvSpPr/>
          <p:nvPr/>
        </p:nvSpPr>
        <p:spPr>
          <a:xfrm>
            <a:off x="10067544" y="1097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도트번호 4"/>
          <p:cNvSpPr txBox="1"/>
          <p:nvPr/>
        </p:nvSpPr>
        <p:spPr>
          <a:xfrm>
            <a:off x="10067544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3" name="도트 5"/>
          <p:cNvSpPr/>
          <p:nvPr/>
        </p:nvSpPr>
        <p:spPr>
          <a:xfrm>
            <a:off x="10680192" y="1097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도트번호 5"/>
          <p:cNvSpPr txBox="1"/>
          <p:nvPr/>
        </p:nvSpPr>
        <p:spPr>
          <a:xfrm>
            <a:off x="10680192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15" name="도트 6"/>
          <p:cNvSpPr/>
          <p:nvPr/>
        </p:nvSpPr>
        <p:spPr>
          <a:xfrm>
            <a:off x="8229600" y="17099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도트번호 6"/>
          <p:cNvSpPr txBox="1"/>
          <p:nvPr/>
        </p:nvSpPr>
        <p:spPr>
          <a:xfrm>
            <a:off x="822960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17" name="도트 7"/>
          <p:cNvSpPr/>
          <p:nvPr/>
        </p:nvSpPr>
        <p:spPr>
          <a:xfrm>
            <a:off x="8842248" y="17099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도트번호 7"/>
          <p:cNvSpPr txBox="1"/>
          <p:nvPr/>
        </p:nvSpPr>
        <p:spPr>
          <a:xfrm>
            <a:off x="8842248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19" name="도트 8"/>
          <p:cNvSpPr/>
          <p:nvPr/>
        </p:nvSpPr>
        <p:spPr>
          <a:xfrm>
            <a:off x="9454896" y="17099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도트번호 8"/>
          <p:cNvSpPr txBox="1"/>
          <p:nvPr/>
        </p:nvSpPr>
        <p:spPr>
          <a:xfrm>
            <a:off x="9454896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21" name="도트 9"/>
          <p:cNvSpPr/>
          <p:nvPr/>
        </p:nvSpPr>
        <p:spPr>
          <a:xfrm>
            <a:off x="10067544" y="17099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도트번호 9"/>
          <p:cNvSpPr txBox="1"/>
          <p:nvPr/>
        </p:nvSpPr>
        <p:spPr>
          <a:xfrm>
            <a:off x="10067544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23" name="도트 10"/>
          <p:cNvSpPr/>
          <p:nvPr/>
        </p:nvSpPr>
        <p:spPr>
          <a:xfrm>
            <a:off x="10680192" y="17099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도트번호 10"/>
          <p:cNvSpPr txBox="1"/>
          <p:nvPr/>
        </p:nvSpPr>
        <p:spPr>
          <a:xfrm>
            <a:off x="10680192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25" name="도트 11"/>
          <p:cNvSpPr/>
          <p:nvPr/>
        </p:nvSpPr>
        <p:spPr>
          <a:xfrm>
            <a:off x="8229600" y="2322576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도트번호 11"/>
          <p:cNvSpPr txBox="1"/>
          <p:nvPr/>
        </p:nvSpPr>
        <p:spPr>
          <a:xfrm>
            <a:off x="8229600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11</a:t>
            </a:r>
            <a:endParaRPr lang="en-US" sz="1200" dirty="0"/>
          </a:p>
        </p:txBody>
      </p:sp>
      <p:sp>
        <p:nvSpPr>
          <p:cNvPr id="27" name="도트 12"/>
          <p:cNvSpPr/>
          <p:nvPr/>
        </p:nvSpPr>
        <p:spPr>
          <a:xfrm>
            <a:off x="8842248" y="2322576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도트번호 12"/>
          <p:cNvSpPr txBox="1"/>
          <p:nvPr/>
        </p:nvSpPr>
        <p:spPr>
          <a:xfrm>
            <a:off x="8842248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12</a:t>
            </a:r>
            <a:endParaRPr lang="en-US" sz="1200" dirty="0"/>
          </a:p>
        </p:txBody>
      </p:sp>
      <p:sp>
        <p:nvSpPr>
          <p:cNvPr id="29" name="도트 13"/>
          <p:cNvSpPr/>
          <p:nvPr/>
        </p:nvSpPr>
        <p:spPr>
          <a:xfrm>
            <a:off x="9454896" y="2322576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도트번호 13"/>
          <p:cNvSpPr txBox="1"/>
          <p:nvPr/>
        </p:nvSpPr>
        <p:spPr>
          <a:xfrm>
            <a:off x="9454896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13</a:t>
            </a:r>
            <a:endParaRPr lang="en-US" sz="1200" dirty="0"/>
          </a:p>
        </p:txBody>
      </p:sp>
      <p:sp>
        <p:nvSpPr>
          <p:cNvPr id="31" name="도트 14"/>
          <p:cNvSpPr/>
          <p:nvPr/>
        </p:nvSpPr>
        <p:spPr>
          <a:xfrm>
            <a:off x="10067544" y="2322576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2" name="도트번호 14"/>
          <p:cNvSpPr txBox="1"/>
          <p:nvPr/>
        </p:nvSpPr>
        <p:spPr>
          <a:xfrm>
            <a:off x="10067544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14</a:t>
            </a:r>
            <a:endParaRPr lang="en-US" sz="1200" dirty="0"/>
          </a:p>
        </p:txBody>
      </p:sp>
      <p:sp>
        <p:nvSpPr>
          <p:cNvPr id="33" name="도트 15"/>
          <p:cNvSpPr/>
          <p:nvPr/>
        </p:nvSpPr>
        <p:spPr>
          <a:xfrm>
            <a:off x="10680192" y="2322576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4" name="도트번호 15"/>
          <p:cNvSpPr txBox="1"/>
          <p:nvPr/>
        </p:nvSpPr>
        <p:spPr>
          <a:xfrm>
            <a:off x="10680192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15</a:t>
            </a:r>
            <a:endParaRPr lang="en-US" sz="1200" dirty="0"/>
          </a:p>
        </p:txBody>
      </p:sp>
      <p:sp>
        <p:nvSpPr>
          <p:cNvPr id="35" name="도트 16"/>
          <p:cNvSpPr/>
          <p:nvPr/>
        </p:nvSpPr>
        <p:spPr>
          <a:xfrm>
            <a:off x="8229600" y="2935224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6" name="도트번호 16"/>
          <p:cNvSpPr txBox="1"/>
          <p:nvPr/>
        </p:nvSpPr>
        <p:spPr>
          <a:xfrm>
            <a:off x="8229600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16</a:t>
            </a:r>
            <a:endParaRPr lang="en-US" sz="1200" dirty="0"/>
          </a:p>
        </p:txBody>
      </p:sp>
      <p:sp>
        <p:nvSpPr>
          <p:cNvPr id="37" name="도트 17"/>
          <p:cNvSpPr/>
          <p:nvPr/>
        </p:nvSpPr>
        <p:spPr>
          <a:xfrm>
            <a:off x="8842248" y="2935224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8" name="도트번호 17"/>
          <p:cNvSpPr txBox="1"/>
          <p:nvPr/>
        </p:nvSpPr>
        <p:spPr>
          <a:xfrm>
            <a:off x="8842248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17</a:t>
            </a:r>
            <a:endParaRPr lang="en-US" sz="1200" dirty="0"/>
          </a:p>
        </p:txBody>
      </p:sp>
      <p:sp>
        <p:nvSpPr>
          <p:cNvPr id="39" name="도트 18"/>
          <p:cNvSpPr/>
          <p:nvPr/>
        </p:nvSpPr>
        <p:spPr>
          <a:xfrm>
            <a:off x="9454896" y="2935224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0" name="도트번호 18"/>
          <p:cNvSpPr txBox="1"/>
          <p:nvPr/>
        </p:nvSpPr>
        <p:spPr>
          <a:xfrm>
            <a:off x="9454896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18</a:t>
            </a:r>
            <a:endParaRPr lang="en-US" sz="1200" dirty="0"/>
          </a:p>
        </p:txBody>
      </p:sp>
      <p:sp>
        <p:nvSpPr>
          <p:cNvPr id="41" name="도트 19"/>
          <p:cNvSpPr/>
          <p:nvPr/>
        </p:nvSpPr>
        <p:spPr>
          <a:xfrm>
            <a:off x="10067544" y="2935224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2" name="도트번호 19"/>
          <p:cNvSpPr txBox="1"/>
          <p:nvPr/>
        </p:nvSpPr>
        <p:spPr>
          <a:xfrm>
            <a:off x="10067544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19</a:t>
            </a:r>
            <a:endParaRPr lang="en-US" sz="1200" dirty="0"/>
          </a:p>
        </p:txBody>
      </p:sp>
      <p:sp>
        <p:nvSpPr>
          <p:cNvPr id="43" name="도트 20"/>
          <p:cNvSpPr/>
          <p:nvPr/>
        </p:nvSpPr>
        <p:spPr>
          <a:xfrm>
            <a:off x="10680192" y="2935224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4" name="도트번호 20"/>
          <p:cNvSpPr txBox="1"/>
          <p:nvPr/>
        </p:nvSpPr>
        <p:spPr>
          <a:xfrm>
            <a:off x="10680192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</a:t>
            </a:r>
            <a:endParaRPr lang="en-US" sz="1200" dirty="0"/>
          </a:p>
        </p:txBody>
      </p:sp>
      <p:sp>
        <p:nvSpPr>
          <p:cNvPr id="45" name="도트 21"/>
          <p:cNvSpPr/>
          <p:nvPr/>
        </p:nvSpPr>
        <p:spPr>
          <a:xfrm>
            <a:off x="8229600" y="354787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6" name="도트번호 21"/>
          <p:cNvSpPr txBox="1"/>
          <p:nvPr/>
        </p:nvSpPr>
        <p:spPr>
          <a:xfrm>
            <a:off x="8229600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21</a:t>
            </a:r>
            <a:endParaRPr lang="en-US" sz="1200" dirty="0"/>
          </a:p>
        </p:txBody>
      </p:sp>
      <p:sp>
        <p:nvSpPr>
          <p:cNvPr id="47" name="도트 22"/>
          <p:cNvSpPr/>
          <p:nvPr/>
        </p:nvSpPr>
        <p:spPr>
          <a:xfrm>
            <a:off x="8842248" y="354787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8" name="도트번호 22"/>
          <p:cNvSpPr txBox="1"/>
          <p:nvPr/>
        </p:nvSpPr>
        <p:spPr>
          <a:xfrm>
            <a:off x="8842248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22</a:t>
            </a:r>
            <a:endParaRPr lang="en-US" sz="1200" dirty="0"/>
          </a:p>
        </p:txBody>
      </p:sp>
      <p:sp>
        <p:nvSpPr>
          <p:cNvPr id="49" name="도트 23"/>
          <p:cNvSpPr/>
          <p:nvPr/>
        </p:nvSpPr>
        <p:spPr>
          <a:xfrm>
            <a:off x="9454896" y="354787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0" name="도트번호 23"/>
          <p:cNvSpPr txBox="1"/>
          <p:nvPr/>
        </p:nvSpPr>
        <p:spPr>
          <a:xfrm>
            <a:off x="9454896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23</a:t>
            </a:r>
            <a:endParaRPr lang="en-US" sz="1200" dirty="0"/>
          </a:p>
        </p:txBody>
      </p:sp>
      <p:sp>
        <p:nvSpPr>
          <p:cNvPr id="51" name="도트 24"/>
          <p:cNvSpPr/>
          <p:nvPr/>
        </p:nvSpPr>
        <p:spPr>
          <a:xfrm>
            <a:off x="10067544" y="354787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2" name="도트번호 24"/>
          <p:cNvSpPr txBox="1"/>
          <p:nvPr/>
        </p:nvSpPr>
        <p:spPr>
          <a:xfrm>
            <a:off x="10067544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24</a:t>
            </a:r>
            <a:endParaRPr lang="en-US" sz="1200" dirty="0"/>
          </a:p>
        </p:txBody>
      </p:sp>
      <p:sp>
        <p:nvSpPr>
          <p:cNvPr id="53" name="도트 25"/>
          <p:cNvSpPr/>
          <p:nvPr/>
        </p:nvSpPr>
        <p:spPr>
          <a:xfrm>
            <a:off x="10680192" y="354787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4" name="도트번호 25"/>
          <p:cNvSpPr txBox="1"/>
          <p:nvPr/>
        </p:nvSpPr>
        <p:spPr>
          <a:xfrm>
            <a:off x="10680192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25</a:t>
            </a:r>
            <a:endParaRPr lang="en-US" sz="1200" dirty="0"/>
          </a:p>
        </p:txBody>
      </p:sp>
      <p:sp>
        <p:nvSpPr>
          <p:cNvPr id="55" name="도트 26"/>
          <p:cNvSpPr/>
          <p:nvPr/>
        </p:nvSpPr>
        <p:spPr>
          <a:xfrm>
            <a:off x="8229600" y="4160520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6" name="도트번호 26"/>
          <p:cNvSpPr txBox="1"/>
          <p:nvPr/>
        </p:nvSpPr>
        <p:spPr>
          <a:xfrm>
            <a:off x="82296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26</a:t>
            </a:r>
            <a:endParaRPr lang="en-US" sz="1200" dirty="0"/>
          </a:p>
        </p:txBody>
      </p:sp>
      <p:sp>
        <p:nvSpPr>
          <p:cNvPr id="57" name="도트 27"/>
          <p:cNvSpPr/>
          <p:nvPr/>
        </p:nvSpPr>
        <p:spPr>
          <a:xfrm>
            <a:off x="8842248" y="4160520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8" name="도트번호 27"/>
          <p:cNvSpPr txBox="1"/>
          <p:nvPr/>
        </p:nvSpPr>
        <p:spPr>
          <a:xfrm>
            <a:off x="8842248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27</a:t>
            </a:r>
            <a:endParaRPr lang="en-US" sz="1200" dirty="0"/>
          </a:p>
        </p:txBody>
      </p:sp>
      <p:sp>
        <p:nvSpPr>
          <p:cNvPr id="59" name="도트 28"/>
          <p:cNvSpPr/>
          <p:nvPr/>
        </p:nvSpPr>
        <p:spPr>
          <a:xfrm>
            <a:off x="9454896" y="4160520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0" name="도트번호 28"/>
          <p:cNvSpPr txBox="1"/>
          <p:nvPr/>
        </p:nvSpPr>
        <p:spPr>
          <a:xfrm>
            <a:off x="9454896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28</a:t>
            </a:r>
            <a:endParaRPr lang="en-US" sz="1200" dirty="0"/>
          </a:p>
        </p:txBody>
      </p:sp>
      <p:sp>
        <p:nvSpPr>
          <p:cNvPr id="61" name="도트 29"/>
          <p:cNvSpPr/>
          <p:nvPr/>
        </p:nvSpPr>
        <p:spPr>
          <a:xfrm>
            <a:off x="10067544" y="4160520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2" name="도트번호 29"/>
          <p:cNvSpPr txBox="1"/>
          <p:nvPr/>
        </p:nvSpPr>
        <p:spPr>
          <a:xfrm>
            <a:off x="10067544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29</a:t>
            </a:r>
            <a:endParaRPr lang="en-US" sz="1200" dirty="0"/>
          </a:p>
        </p:txBody>
      </p:sp>
      <p:sp>
        <p:nvSpPr>
          <p:cNvPr id="63" name="도트 30"/>
          <p:cNvSpPr/>
          <p:nvPr/>
        </p:nvSpPr>
        <p:spPr>
          <a:xfrm>
            <a:off x="10680192" y="4160520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4" name="도트번호 30"/>
          <p:cNvSpPr txBox="1"/>
          <p:nvPr/>
        </p:nvSpPr>
        <p:spPr>
          <a:xfrm>
            <a:off x="10680192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30</a:t>
            </a:r>
            <a:endParaRPr lang="en-US" sz="1200" dirty="0"/>
          </a:p>
        </p:txBody>
      </p:sp>
      <p:sp>
        <p:nvSpPr>
          <p:cNvPr id="65" name="도트 31"/>
          <p:cNvSpPr/>
          <p:nvPr/>
        </p:nvSpPr>
        <p:spPr>
          <a:xfrm>
            <a:off x="8229600" y="4773168"/>
            <a:ext cx="457200" cy="4572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6" name="도트번호 31"/>
          <p:cNvSpPr txBox="1"/>
          <p:nvPr/>
        </p:nvSpPr>
        <p:spPr>
          <a:xfrm>
            <a:off x="8229600" y="4773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31</a:t>
            </a:r>
            <a:endParaRPr lang="en-US" sz="1200" dirty="0"/>
          </a:p>
        </p:txBody>
      </p:sp>
      <p:sp>
        <p:nvSpPr>
          <p:cNvPr id="67" name="도트 32"/>
          <p:cNvSpPr/>
          <p:nvPr/>
        </p:nvSpPr>
        <p:spPr>
          <a:xfrm>
            <a:off x="8842248" y="4773168"/>
            <a:ext cx="457200" cy="4572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8" name="도트번호 32"/>
          <p:cNvSpPr txBox="1"/>
          <p:nvPr/>
        </p:nvSpPr>
        <p:spPr>
          <a:xfrm>
            <a:off x="8842248" y="4773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32</a:t>
            </a:r>
            <a:endParaRPr lang="en-US" sz="1200" dirty="0"/>
          </a:p>
        </p:txBody>
      </p:sp>
      <p:sp>
        <p:nvSpPr>
          <p:cNvPr id="69" name="도트 33"/>
          <p:cNvSpPr/>
          <p:nvPr/>
        </p:nvSpPr>
        <p:spPr>
          <a:xfrm>
            <a:off x="9454896" y="4773168"/>
            <a:ext cx="457200" cy="4572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70" name="도트번호 33"/>
          <p:cNvSpPr txBox="1"/>
          <p:nvPr/>
        </p:nvSpPr>
        <p:spPr>
          <a:xfrm>
            <a:off x="9454896" y="4773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33</a:t>
            </a:r>
            <a:endParaRPr lang="en-US" sz="1200" dirty="0"/>
          </a:p>
        </p:txBody>
      </p:sp>
      <p:sp>
        <p:nvSpPr>
          <p:cNvPr id="71" name="도트 34"/>
          <p:cNvSpPr/>
          <p:nvPr/>
        </p:nvSpPr>
        <p:spPr>
          <a:xfrm>
            <a:off x="10067544" y="4773168"/>
            <a:ext cx="457200" cy="4572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72" name="도트번호 34"/>
          <p:cNvSpPr txBox="1"/>
          <p:nvPr/>
        </p:nvSpPr>
        <p:spPr>
          <a:xfrm>
            <a:off x="10067544" y="4773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34</a:t>
            </a:r>
            <a:endParaRPr lang="en-US" sz="1200" dirty="0"/>
          </a:p>
        </p:txBody>
      </p:sp>
      <p:sp>
        <p:nvSpPr>
          <p:cNvPr id="73" name="도트 35"/>
          <p:cNvSpPr/>
          <p:nvPr/>
        </p:nvSpPr>
        <p:spPr>
          <a:xfrm>
            <a:off x="10680192" y="4773168"/>
            <a:ext cx="457200" cy="4572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74" name="도트번호 35"/>
          <p:cNvSpPr txBox="1"/>
          <p:nvPr/>
        </p:nvSpPr>
        <p:spPr>
          <a:xfrm>
            <a:off x="10680192" y="4773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바이브코딩, 이렇게 시키면 잘 됩니다</a:t>
            </a:r>
            <a:endParaRPr lang="en-US" sz="3400" dirty="0"/>
          </a:p>
        </p:txBody>
      </p:sp>
      <p:sp>
        <p:nvSpPr>
          <p:cNvPr id="3" name="도입 문장"/>
          <p:cNvSpPr txBox="1"/>
          <p:nvPr/>
        </p:nvSpPr>
        <p:spPr>
          <a:xfrm>
            <a:off x="548640" y="14173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만들고 싶은 것을 말로 설명하면 AI가 프로그램을 만들어줍니다. 아래 5가지만 지켜도 결과가 확 달라집니다.</a:t>
            </a:r>
            <a:endParaRPr lang="en-US" sz="1600" dirty="0"/>
          </a:p>
        </p:txBody>
      </p:sp>
      <p:sp>
        <p:nvSpPr>
          <p:cNvPr id="4" name="원칙카드 1"/>
          <p:cNvSpPr/>
          <p:nvPr/>
        </p:nvSpPr>
        <p:spPr>
          <a:xfrm>
            <a:off x="548640" y="2240280"/>
            <a:ext cx="2057400" cy="34290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원칙원 1"/>
          <p:cNvSpPr/>
          <p:nvPr/>
        </p:nvSpPr>
        <p:spPr>
          <a:xfrm>
            <a:off x="777240" y="24688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결과물을 구체적으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51760"/>
            <a:ext cx="365760" cy="365760"/>
          </a:xfrm>
          <a:prstGeom prst="rect">
            <a:avLst/>
          </a:prstGeom>
        </p:spPr>
      </p:pic>
      <p:sp>
        <p:nvSpPr>
          <p:cNvPr id="7" name="원칙제목 1"/>
          <p:cNvSpPr txBox="1"/>
          <p:nvPr/>
        </p:nvSpPr>
        <p:spPr>
          <a:xfrm>
            <a:off x="777240" y="33375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결과물을 구체적으로</a:t>
            </a:r>
            <a:endParaRPr lang="en-US" sz="1600" dirty="0"/>
          </a:p>
        </p:txBody>
      </p:sp>
      <p:sp>
        <p:nvSpPr>
          <p:cNvPr id="8" name="원칙설명 1"/>
          <p:cNvSpPr txBox="1"/>
          <p:nvPr/>
        </p:nvSpPr>
        <p:spPr>
          <a:xfrm>
            <a:off x="777240" y="4023360"/>
            <a:ext cx="1600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무엇을 넣으면 무엇이 나오는지 한 문장으로 적어요.</a:t>
            </a:r>
            <a:endParaRPr lang="en-US" sz="1400" dirty="0"/>
          </a:p>
        </p:txBody>
      </p:sp>
      <p:sp>
        <p:nvSpPr>
          <p:cNvPr id="9" name="원칙카드 2"/>
          <p:cNvSpPr/>
          <p:nvPr/>
        </p:nvSpPr>
        <p:spPr>
          <a:xfrm>
            <a:off x="2807208" y="2240280"/>
            <a:ext cx="2057400" cy="34290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원칙원 2"/>
          <p:cNvSpPr/>
          <p:nvPr/>
        </p:nvSpPr>
        <p:spPr>
          <a:xfrm>
            <a:off x="3035808" y="24688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예시를 붙이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2651760"/>
            <a:ext cx="365760" cy="365760"/>
          </a:xfrm>
          <a:prstGeom prst="rect">
            <a:avLst/>
          </a:prstGeom>
        </p:spPr>
      </p:pic>
      <p:sp>
        <p:nvSpPr>
          <p:cNvPr id="12" name="원칙제목 2"/>
          <p:cNvSpPr txBox="1"/>
          <p:nvPr/>
        </p:nvSpPr>
        <p:spPr>
          <a:xfrm>
            <a:off x="3035808" y="33375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예시를 붙이기</a:t>
            </a:r>
            <a:endParaRPr lang="en-US" sz="1600" dirty="0"/>
          </a:p>
        </p:txBody>
      </p:sp>
      <p:sp>
        <p:nvSpPr>
          <p:cNvPr id="13" name="원칙설명 2"/>
          <p:cNvSpPr txBox="1"/>
          <p:nvPr/>
        </p:nvSpPr>
        <p:spPr>
          <a:xfrm>
            <a:off x="3035808" y="4023360"/>
            <a:ext cx="1600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내 보고서·엑셀 샘플을 같이 주면 양식을 그대로 따라 해요.</a:t>
            </a:r>
            <a:endParaRPr lang="en-US" sz="1400" dirty="0"/>
          </a:p>
        </p:txBody>
      </p:sp>
      <p:sp>
        <p:nvSpPr>
          <p:cNvPr id="14" name="원칙카드 3"/>
          <p:cNvSpPr/>
          <p:nvPr/>
        </p:nvSpPr>
        <p:spPr>
          <a:xfrm>
            <a:off x="5065776" y="2240280"/>
            <a:ext cx="2057400" cy="34290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원칙원 3"/>
          <p:cNvSpPr/>
          <p:nvPr/>
        </p:nvSpPr>
        <p:spPr>
          <a:xfrm>
            <a:off x="5294376" y="246888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2" descr="작게 시작, 한 겹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256" y="2651760"/>
            <a:ext cx="365760" cy="365760"/>
          </a:xfrm>
          <a:prstGeom prst="rect">
            <a:avLst/>
          </a:prstGeom>
        </p:spPr>
      </p:pic>
      <p:sp>
        <p:nvSpPr>
          <p:cNvPr id="17" name="원칙제목 3"/>
          <p:cNvSpPr txBox="1"/>
          <p:nvPr/>
        </p:nvSpPr>
        <p:spPr>
          <a:xfrm>
            <a:off x="5294376" y="33375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작게 시작, 한 겹씩</a:t>
            </a:r>
            <a:endParaRPr lang="en-US" sz="1600" dirty="0"/>
          </a:p>
        </p:txBody>
      </p:sp>
      <p:sp>
        <p:nvSpPr>
          <p:cNvPr id="18" name="원칙설명 3"/>
          <p:cNvSpPr txBox="1"/>
          <p:nvPr/>
        </p:nvSpPr>
        <p:spPr>
          <a:xfrm>
            <a:off x="5294376" y="4023360"/>
            <a:ext cx="1600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핵심 기능 하나부터 만들고, 마음에 들면 기능을 더해요.</a:t>
            </a:r>
            <a:endParaRPr lang="en-US" sz="1400" dirty="0"/>
          </a:p>
        </p:txBody>
      </p:sp>
      <p:sp>
        <p:nvSpPr>
          <p:cNvPr id="19" name="원칙카드 4"/>
          <p:cNvSpPr/>
          <p:nvPr/>
        </p:nvSpPr>
        <p:spPr>
          <a:xfrm>
            <a:off x="7324344" y="2240280"/>
            <a:ext cx="2057400" cy="34290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원칙원 4"/>
          <p:cNvSpPr/>
          <p:nvPr/>
        </p:nvSpPr>
        <p:spPr>
          <a:xfrm>
            <a:off x="7552944" y="246888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Image 3" descr="안전장치 넣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2651760"/>
            <a:ext cx="365760" cy="365760"/>
          </a:xfrm>
          <a:prstGeom prst="rect">
            <a:avLst/>
          </a:prstGeom>
        </p:spPr>
      </p:pic>
      <p:sp>
        <p:nvSpPr>
          <p:cNvPr id="22" name="원칙제목 4"/>
          <p:cNvSpPr txBox="1"/>
          <p:nvPr/>
        </p:nvSpPr>
        <p:spPr>
          <a:xfrm>
            <a:off x="7552944" y="33375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안전장치 넣기</a:t>
            </a:r>
            <a:endParaRPr lang="en-US" sz="1600" dirty="0"/>
          </a:p>
        </p:txBody>
      </p:sp>
      <p:sp>
        <p:nvSpPr>
          <p:cNvPr id="23" name="원칙설명 4"/>
          <p:cNvSpPr txBox="1"/>
          <p:nvPr/>
        </p:nvSpPr>
        <p:spPr>
          <a:xfrm>
            <a:off x="7552944" y="4023360"/>
            <a:ext cx="1600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'미리보기 먼저', '삭제 금지', '원본 수정 금지'를 꼭 적어요.</a:t>
            </a:r>
            <a:endParaRPr lang="en-US" sz="1400" dirty="0"/>
          </a:p>
        </p:txBody>
      </p:sp>
      <p:sp>
        <p:nvSpPr>
          <p:cNvPr id="24" name="원칙카드 5"/>
          <p:cNvSpPr/>
          <p:nvPr/>
        </p:nvSpPr>
        <p:spPr>
          <a:xfrm>
            <a:off x="9582912" y="2240280"/>
            <a:ext cx="2057400" cy="34290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원칙원 5"/>
          <p:cNvSpPr/>
          <p:nvPr/>
        </p:nvSpPr>
        <p:spPr>
          <a:xfrm>
            <a:off x="9811512" y="2468880"/>
            <a:ext cx="731520" cy="7315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6" name="Image 4" descr="민감정보는 가짜로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4392" y="2651760"/>
            <a:ext cx="365760" cy="365760"/>
          </a:xfrm>
          <a:prstGeom prst="rect">
            <a:avLst/>
          </a:prstGeom>
        </p:spPr>
      </p:pic>
      <p:sp>
        <p:nvSpPr>
          <p:cNvPr id="27" name="원칙제목 5"/>
          <p:cNvSpPr txBox="1"/>
          <p:nvPr/>
        </p:nvSpPr>
        <p:spPr>
          <a:xfrm>
            <a:off x="9811512" y="33375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민감정보는 가짜로</a:t>
            </a:r>
            <a:endParaRPr lang="en-US" sz="1600" dirty="0"/>
          </a:p>
        </p:txBody>
      </p:sp>
      <p:sp>
        <p:nvSpPr>
          <p:cNvPr id="28" name="원칙설명 5"/>
          <p:cNvSpPr txBox="1"/>
          <p:nvPr/>
        </p:nvSpPr>
        <p:spPr>
          <a:xfrm>
            <a:off x="9811512" y="4023360"/>
            <a:ext cx="1600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고객·금융 정보는 바꾼 샘플로 시험하고, 회사 보안 규정을 확인해요.</a:t>
            </a:r>
            <a:endParaRPr lang="en-US" sz="1400" dirty="0"/>
          </a:p>
        </p:txBody>
      </p:sp>
      <p:sp>
        <p:nvSpPr>
          <p:cNvPr id="29" name="원칙 용어 배경"/>
          <p:cNvSpPr/>
          <p:nvPr/>
        </p:nvSpPr>
        <p:spPr>
          <a:xfrm>
            <a:off x="548640" y="5943600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원칙 용어"/>
          <p:cNvSpPr txBox="1"/>
          <p:nvPr/>
        </p:nvSpPr>
        <p:spPr>
          <a:xfrm>
            <a:off x="731520" y="5961888"/>
            <a:ext cx="1072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※ 용어 참고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바이브코딩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코드를 직접 짜지 않고, 말로 설명해서 AI가 프로그램을 만들게 하는 방식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스크립트(프롬프트)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AI에게 보내는 지시 문장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샘플 데이터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진짜 자료 대신 시험용으로 만든 비슷한 가짜 자료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6개 테마, 30개 사례 + 보너스 5개</a:t>
            </a:r>
            <a:endParaRPr lang="en-US" sz="3400" dirty="0"/>
          </a:p>
        </p:txBody>
      </p:sp>
      <p:sp>
        <p:nvSpPr>
          <p:cNvPr id="3" name="테마카드 A"/>
          <p:cNvSpPr/>
          <p:nvPr/>
        </p:nvSpPr>
        <p:spPr>
          <a:xfrm>
            <a:off x="548640" y="1371600"/>
            <a:ext cx="356616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테마원 A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업무 자동화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28800"/>
            <a:ext cx="365760" cy="365760"/>
          </a:xfrm>
          <a:prstGeom prst="rect">
            <a:avLst/>
          </a:prstGeom>
        </p:spPr>
      </p:pic>
      <p:sp>
        <p:nvSpPr>
          <p:cNvPr id="6" name="테마명 A"/>
          <p:cNvSpPr txBox="1"/>
          <p:nvPr/>
        </p:nvSpPr>
        <p:spPr>
          <a:xfrm>
            <a:off x="1737360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업무 자동화</a:t>
            </a:r>
            <a:endParaRPr lang="en-US" sz="1800" dirty="0"/>
          </a:p>
        </p:txBody>
      </p:sp>
      <p:sp>
        <p:nvSpPr>
          <p:cNvPr id="7" name="테마범위 A"/>
          <p:cNvSpPr txBox="1"/>
          <p:nvPr/>
        </p:nvSpPr>
        <p:spPr>
          <a:xfrm>
            <a:off x="173736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사례 01 – 05</a:t>
            </a:r>
            <a:endParaRPr lang="en-US" sz="1200" dirty="0"/>
          </a:p>
        </p:txBody>
      </p:sp>
      <p:sp>
        <p:nvSpPr>
          <p:cNvPr id="8" name="테마설명 A"/>
          <p:cNvSpPr txBox="1"/>
          <p:nvPr/>
        </p:nvSpPr>
        <p:spPr>
          <a:xfrm>
            <a:off x="822960" y="2514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반복 작업을 버튼 한 번으로 끝내는 도구</a:t>
            </a:r>
            <a:endParaRPr lang="en-US" sz="1400" dirty="0"/>
          </a:p>
        </p:txBody>
      </p:sp>
      <p:sp>
        <p:nvSpPr>
          <p:cNvPr id="9" name="테마카드 B"/>
          <p:cNvSpPr/>
          <p:nvPr/>
        </p:nvSpPr>
        <p:spPr>
          <a:xfrm>
            <a:off x="4311396" y="1371600"/>
            <a:ext cx="356616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테마원 B"/>
          <p:cNvSpPr/>
          <p:nvPr/>
        </p:nvSpPr>
        <p:spPr>
          <a:xfrm>
            <a:off x="4585716" y="16459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사내 미니앱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596" y="1828800"/>
            <a:ext cx="365760" cy="365760"/>
          </a:xfrm>
          <a:prstGeom prst="rect">
            <a:avLst/>
          </a:prstGeom>
        </p:spPr>
      </p:pic>
      <p:sp>
        <p:nvSpPr>
          <p:cNvPr id="12" name="테마명 B"/>
          <p:cNvSpPr txBox="1"/>
          <p:nvPr/>
        </p:nvSpPr>
        <p:spPr>
          <a:xfrm>
            <a:off x="5500116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사내 미니앱</a:t>
            </a:r>
            <a:endParaRPr lang="en-US" sz="1800" dirty="0"/>
          </a:p>
        </p:txBody>
      </p:sp>
      <p:sp>
        <p:nvSpPr>
          <p:cNvPr id="13" name="테마범위 B"/>
          <p:cNvSpPr txBox="1"/>
          <p:nvPr/>
        </p:nvSpPr>
        <p:spPr>
          <a:xfrm>
            <a:off x="5500116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사례 06 – 10</a:t>
            </a:r>
            <a:endParaRPr lang="en-US" sz="1200" dirty="0"/>
          </a:p>
        </p:txBody>
      </p:sp>
      <p:sp>
        <p:nvSpPr>
          <p:cNvPr id="14" name="테마설명 B"/>
          <p:cNvSpPr txBox="1"/>
          <p:nvPr/>
        </p:nvSpPr>
        <p:spPr>
          <a:xfrm>
            <a:off x="4585716" y="2514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개발팀 없이 우리 팀 전용 작은 앱 만들기</a:t>
            </a:r>
            <a:endParaRPr lang="en-US" sz="1400" dirty="0"/>
          </a:p>
        </p:txBody>
      </p:sp>
      <p:sp>
        <p:nvSpPr>
          <p:cNvPr id="15" name="테마카드 C"/>
          <p:cNvSpPr/>
          <p:nvPr/>
        </p:nvSpPr>
        <p:spPr>
          <a:xfrm>
            <a:off x="8074152" y="1371600"/>
            <a:ext cx="356616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테마원 C"/>
          <p:cNvSpPr/>
          <p:nvPr/>
        </p:nvSpPr>
        <p:spPr>
          <a:xfrm>
            <a:off x="8348472" y="164592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2" descr="데이터·분석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1828800"/>
            <a:ext cx="365760" cy="365760"/>
          </a:xfrm>
          <a:prstGeom prst="rect">
            <a:avLst/>
          </a:prstGeom>
        </p:spPr>
      </p:pic>
      <p:sp>
        <p:nvSpPr>
          <p:cNvPr id="18" name="테마명 C"/>
          <p:cNvSpPr txBox="1"/>
          <p:nvPr/>
        </p:nvSpPr>
        <p:spPr>
          <a:xfrm>
            <a:off x="9262872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데이터·분석</a:t>
            </a:r>
            <a:endParaRPr lang="en-US" sz="1800" dirty="0"/>
          </a:p>
        </p:txBody>
      </p:sp>
      <p:sp>
        <p:nvSpPr>
          <p:cNvPr id="19" name="테마범위 C"/>
          <p:cNvSpPr txBox="1"/>
          <p:nvPr/>
        </p:nvSpPr>
        <p:spPr>
          <a:xfrm>
            <a:off x="9262872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사례 11 – 15</a:t>
            </a:r>
            <a:endParaRPr lang="en-US" sz="1200" dirty="0"/>
          </a:p>
        </p:txBody>
      </p:sp>
      <p:sp>
        <p:nvSpPr>
          <p:cNvPr id="20" name="테마설명 C"/>
          <p:cNvSpPr txBox="1"/>
          <p:nvPr/>
        </p:nvSpPr>
        <p:spPr>
          <a:xfrm>
            <a:off x="8348472" y="2514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숫자와 의견을 모아 한눈에 보이게 만들기</a:t>
            </a:r>
            <a:endParaRPr lang="en-US" sz="1400" dirty="0"/>
          </a:p>
        </p:txBody>
      </p:sp>
      <p:sp>
        <p:nvSpPr>
          <p:cNvPr id="21" name="테마카드 D"/>
          <p:cNvSpPr/>
          <p:nvPr/>
        </p:nvSpPr>
        <p:spPr>
          <a:xfrm>
            <a:off x="548640" y="3337560"/>
            <a:ext cx="356616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테마원 D"/>
          <p:cNvSpPr/>
          <p:nvPr/>
        </p:nvSpPr>
        <p:spPr>
          <a:xfrm>
            <a:off x="822960" y="361188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3" name="Image 3" descr="콘텐츠·커뮤니케이션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794760"/>
            <a:ext cx="365760" cy="365760"/>
          </a:xfrm>
          <a:prstGeom prst="rect">
            <a:avLst/>
          </a:prstGeom>
        </p:spPr>
      </p:pic>
      <p:sp>
        <p:nvSpPr>
          <p:cNvPr id="24" name="테마명 D"/>
          <p:cNvSpPr txBox="1"/>
          <p:nvPr/>
        </p:nvSpPr>
        <p:spPr>
          <a:xfrm>
            <a:off x="1737360" y="3611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콘텐츠·커뮤니케이션</a:t>
            </a:r>
            <a:endParaRPr lang="en-US" sz="1800" dirty="0"/>
          </a:p>
        </p:txBody>
      </p:sp>
      <p:sp>
        <p:nvSpPr>
          <p:cNvPr id="25" name="테마범위 D"/>
          <p:cNvSpPr txBox="1"/>
          <p:nvPr/>
        </p:nvSpPr>
        <p:spPr>
          <a:xfrm>
            <a:off x="1737360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사례 16 – 20</a:t>
            </a:r>
            <a:endParaRPr lang="en-US" sz="1200" dirty="0"/>
          </a:p>
        </p:txBody>
      </p:sp>
      <p:sp>
        <p:nvSpPr>
          <p:cNvPr id="26" name="테마설명 D"/>
          <p:cNvSpPr txBox="1"/>
          <p:nvPr/>
        </p:nvSpPr>
        <p:spPr>
          <a:xfrm>
            <a:off x="822960" y="4480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글·말·발표를 빠르게 다듬는 도구</a:t>
            </a:r>
            <a:endParaRPr lang="en-US" sz="1400" dirty="0"/>
          </a:p>
        </p:txBody>
      </p:sp>
      <p:sp>
        <p:nvSpPr>
          <p:cNvPr id="27" name="테마카드 E"/>
          <p:cNvSpPr/>
          <p:nvPr/>
        </p:nvSpPr>
        <p:spPr>
          <a:xfrm>
            <a:off x="4311396" y="3337560"/>
            <a:ext cx="356616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테마원 E"/>
          <p:cNvSpPr/>
          <p:nvPr/>
        </p:nvSpPr>
        <p:spPr>
          <a:xfrm>
            <a:off x="4585716" y="3611880"/>
            <a:ext cx="731520" cy="7315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9" name="Image 4" descr="개인 생활·재테크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8596" y="3794760"/>
            <a:ext cx="365760" cy="365760"/>
          </a:xfrm>
          <a:prstGeom prst="rect">
            <a:avLst/>
          </a:prstGeom>
        </p:spPr>
      </p:pic>
      <p:sp>
        <p:nvSpPr>
          <p:cNvPr id="30" name="테마명 E"/>
          <p:cNvSpPr txBox="1"/>
          <p:nvPr/>
        </p:nvSpPr>
        <p:spPr>
          <a:xfrm>
            <a:off x="5500116" y="3611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개인 생활·재테크</a:t>
            </a:r>
            <a:endParaRPr lang="en-US" sz="1800" dirty="0"/>
          </a:p>
        </p:txBody>
      </p:sp>
      <p:sp>
        <p:nvSpPr>
          <p:cNvPr id="31" name="테마범위 E"/>
          <p:cNvSpPr txBox="1"/>
          <p:nvPr/>
        </p:nvSpPr>
        <p:spPr>
          <a:xfrm>
            <a:off x="5500116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사례 21 – 25</a:t>
            </a:r>
            <a:endParaRPr lang="en-US" sz="1200" dirty="0"/>
          </a:p>
        </p:txBody>
      </p:sp>
      <p:sp>
        <p:nvSpPr>
          <p:cNvPr id="32" name="테마설명 E"/>
          <p:cNvSpPr txBox="1"/>
          <p:nvPr/>
        </p:nvSpPr>
        <p:spPr>
          <a:xfrm>
            <a:off x="4585716" y="4480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내 일상과 돈 관리를 편하게 만드는 도구</a:t>
            </a:r>
            <a:endParaRPr lang="en-US" sz="1400" dirty="0"/>
          </a:p>
        </p:txBody>
      </p:sp>
      <p:sp>
        <p:nvSpPr>
          <p:cNvPr id="33" name="테마카드 F"/>
          <p:cNvSpPr/>
          <p:nvPr/>
        </p:nvSpPr>
        <p:spPr>
          <a:xfrm>
            <a:off x="8074152" y="3337560"/>
            <a:ext cx="356616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테마원 F"/>
          <p:cNvSpPr/>
          <p:nvPr/>
        </p:nvSpPr>
        <p:spPr>
          <a:xfrm>
            <a:off x="8348472" y="3611880"/>
            <a:ext cx="731520" cy="7315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5" name="Image 5" descr="부업·성장·재미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1352" y="3794760"/>
            <a:ext cx="365760" cy="365760"/>
          </a:xfrm>
          <a:prstGeom prst="rect">
            <a:avLst/>
          </a:prstGeom>
        </p:spPr>
      </p:pic>
      <p:sp>
        <p:nvSpPr>
          <p:cNvPr id="36" name="테마명 F"/>
          <p:cNvSpPr txBox="1"/>
          <p:nvPr/>
        </p:nvSpPr>
        <p:spPr>
          <a:xfrm>
            <a:off x="9262872" y="3611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부업·성장·재미</a:t>
            </a:r>
            <a:endParaRPr lang="en-US" sz="1800" dirty="0"/>
          </a:p>
        </p:txBody>
      </p:sp>
      <p:sp>
        <p:nvSpPr>
          <p:cNvPr id="37" name="테마범위 F"/>
          <p:cNvSpPr txBox="1"/>
          <p:nvPr/>
        </p:nvSpPr>
        <p:spPr>
          <a:xfrm>
            <a:off x="9262872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사례 26 – 30</a:t>
            </a:r>
            <a:endParaRPr lang="en-US" sz="1200" dirty="0"/>
          </a:p>
        </p:txBody>
      </p:sp>
      <p:sp>
        <p:nvSpPr>
          <p:cNvPr id="38" name="테마설명 F"/>
          <p:cNvSpPr txBox="1"/>
          <p:nvPr/>
        </p:nvSpPr>
        <p:spPr>
          <a:xfrm>
            <a:off x="8348472" y="4480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나를 알리고, 공부하고, 신기한 걸 만들어보기</a:t>
            </a:r>
            <a:endParaRPr lang="en-US" sz="1400" dirty="0"/>
          </a:p>
        </p:txBody>
      </p:sp>
      <p:sp>
        <p:nvSpPr>
          <p:cNvPr id="39" name="보너스 배너"/>
          <p:cNvSpPr/>
          <p:nvPr/>
        </p:nvSpPr>
        <p:spPr>
          <a:xfrm>
            <a:off x="548640" y="525780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pic>
        <p:nvPicPr>
          <p:cNvPr id="40" name="Image 6" descr="보너스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468112"/>
            <a:ext cx="365760" cy="365760"/>
          </a:xfrm>
          <a:prstGeom prst="rect">
            <a:avLst/>
          </a:prstGeom>
        </p:spPr>
      </p:pic>
      <p:sp>
        <p:nvSpPr>
          <p:cNvPr id="41" name="보너스 배너 글"/>
          <p:cNvSpPr txBox="1"/>
          <p:nvPr/>
        </p:nvSpPr>
        <p:spPr>
          <a:xfrm>
            <a:off x="1417320" y="52578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BONUS  제미나이 크롤링 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사례 31 – 35   ·   유튜브·뉴스·공고를 공식 통로로 모아 제미나이(Gemini)가 요약·분류하게 만들기</a:t>
            </a:r>
            <a:endParaRPr lang="en-US" sz="1800" dirty="0"/>
          </a:p>
        </p:txBody>
      </p:sp>
      <p:sp>
        <p:nvSpPr>
          <p:cNvPr id="42" name="읽는 법"/>
          <p:cNvSpPr txBox="1"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각 사례 슬라이드 구성:  의도  ·  노하우  ·  AI에게 시키는 스크립트  ·  하단 ※ 용어 참고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구분 아이콘 원"/>
          <p:cNvSpPr/>
          <p:nvPr/>
        </p:nvSpPr>
        <p:spPr>
          <a:xfrm>
            <a:off x="822960" y="1371600"/>
            <a:ext cx="1554480" cy="1554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" name="Image 0" descr="업무 자동화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828800"/>
            <a:ext cx="640080" cy="640080"/>
          </a:xfrm>
          <a:prstGeom prst="rect">
            <a:avLst/>
          </a:prstGeom>
        </p:spPr>
      </p:pic>
      <p:sp>
        <p:nvSpPr>
          <p:cNvPr id="4" name="구분 라벨"/>
          <p:cNvSpPr txBox="1"/>
          <p:nvPr/>
        </p:nvSpPr>
        <p:spPr>
          <a:xfrm>
            <a:off x="822960" y="2926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THEME A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32461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업무 자동화</a:t>
            </a:r>
            <a:endParaRPr lang="en-US" sz="4000" dirty="0"/>
          </a:p>
        </p:txBody>
      </p:sp>
      <p:sp>
        <p:nvSpPr>
          <p:cNvPr id="6" name="구분 설명"/>
          <p:cNvSpPr txBox="1"/>
          <p:nvPr/>
        </p:nvSpPr>
        <p:spPr>
          <a:xfrm>
            <a:off x="822960" y="42519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반복 작업을 버튼 한 번으로 끝내는 도구</a:t>
            </a:r>
            <a:endParaRPr lang="en-US" sz="1800" dirty="0"/>
          </a:p>
        </p:txBody>
      </p:sp>
      <p:sp>
        <p:nvSpPr>
          <p:cNvPr id="7" name="구분 목록 카드"/>
          <p:cNvSpPr/>
          <p:nvPr/>
        </p:nvSpPr>
        <p:spPr>
          <a:xfrm>
            <a:off x="6492240" y="1097280"/>
            <a:ext cx="5148072" cy="466344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구분 번호원 1"/>
          <p:cNvSpPr/>
          <p:nvPr/>
        </p:nvSpPr>
        <p:spPr>
          <a:xfrm>
            <a:off x="681228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구분 번호 1"/>
          <p:cNvSpPr txBox="1"/>
          <p:nvPr/>
        </p:nvSpPr>
        <p:spPr>
          <a:xfrm>
            <a:off x="68122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01</a:t>
            </a:r>
            <a:endParaRPr lang="en-US" sz="1400" dirty="0"/>
          </a:p>
        </p:txBody>
      </p:sp>
      <p:sp>
        <p:nvSpPr>
          <p:cNvPr id="10" name="구분 사례명 1"/>
          <p:cNvSpPr txBox="1"/>
          <p:nvPr/>
        </p:nvSpPr>
        <p:spPr>
          <a:xfrm>
            <a:off x="7589520" y="141732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엑셀 여러 파일, 한 번에 합치기</a:t>
            </a:r>
            <a:endParaRPr lang="en-US" sz="1600" dirty="0"/>
          </a:p>
        </p:txBody>
      </p:sp>
      <p:sp>
        <p:nvSpPr>
          <p:cNvPr id="11" name="구분 번호원 2"/>
          <p:cNvSpPr/>
          <p:nvPr/>
        </p:nvSpPr>
        <p:spPr>
          <a:xfrm>
            <a:off x="6812280" y="22860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구분 번호 2"/>
          <p:cNvSpPr txBox="1"/>
          <p:nvPr/>
        </p:nvSpPr>
        <p:spPr>
          <a:xfrm>
            <a:off x="68122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구분 사례명 2"/>
          <p:cNvSpPr txBox="1"/>
          <p:nvPr/>
        </p:nvSpPr>
        <p:spPr>
          <a:xfrm>
            <a:off x="7589520" y="228600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주간보고 초안 자동 생성기</a:t>
            </a:r>
            <a:endParaRPr lang="en-US" sz="1600" dirty="0"/>
          </a:p>
        </p:txBody>
      </p:sp>
      <p:sp>
        <p:nvSpPr>
          <p:cNvPr id="14" name="구분 번호원 3"/>
          <p:cNvSpPr/>
          <p:nvPr/>
        </p:nvSpPr>
        <p:spPr>
          <a:xfrm>
            <a:off x="6812280" y="31546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구분 번호 3"/>
          <p:cNvSpPr txBox="1"/>
          <p:nvPr/>
        </p:nvSpPr>
        <p:spPr>
          <a:xfrm>
            <a:off x="681228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03</a:t>
            </a:r>
            <a:endParaRPr lang="en-US" sz="1400" dirty="0"/>
          </a:p>
        </p:txBody>
      </p:sp>
      <p:sp>
        <p:nvSpPr>
          <p:cNvPr id="16" name="구분 사례명 3"/>
          <p:cNvSpPr txBox="1"/>
          <p:nvPr/>
        </p:nvSpPr>
        <p:spPr>
          <a:xfrm>
            <a:off x="7589520" y="315468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회의록 → 할 일(액션아이템) 표</a:t>
            </a:r>
            <a:endParaRPr lang="en-US" sz="1600" dirty="0"/>
          </a:p>
        </p:txBody>
      </p:sp>
      <p:sp>
        <p:nvSpPr>
          <p:cNvPr id="17" name="구분 번호원 4"/>
          <p:cNvSpPr/>
          <p:nvPr/>
        </p:nvSpPr>
        <p:spPr>
          <a:xfrm>
            <a:off x="6812280" y="40233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구분 번호 4"/>
          <p:cNvSpPr txBox="1"/>
          <p:nvPr/>
        </p:nvSpPr>
        <p:spPr>
          <a:xfrm>
            <a:off x="681228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04</a:t>
            </a:r>
            <a:endParaRPr lang="en-US" sz="1400" dirty="0"/>
          </a:p>
        </p:txBody>
      </p:sp>
      <p:sp>
        <p:nvSpPr>
          <p:cNvPr id="19" name="구분 사례명 4"/>
          <p:cNvSpPr txBox="1"/>
          <p:nvPr/>
        </p:nvSpPr>
        <p:spPr>
          <a:xfrm>
            <a:off x="7589520" y="402336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다운로드 폴더 자동 정리</a:t>
            </a:r>
            <a:endParaRPr lang="en-US" sz="1600" dirty="0"/>
          </a:p>
        </p:txBody>
      </p:sp>
      <p:sp>
        <p:nvSpPr>
          <p:cNvPr id="20" name="구분 번호원 5"/>
          <p:cNvSpPr/>
          <p:nvPr/>
        </p:nvSpPr>
        <p:spPr>
          <a:xfrm>
            <a:off x="6812280" y="4892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구분 번호 5"/>
          <p:cNvSpPr txBox="1"/>
          <p:nvPr/>
        </p:nvSpPr>
        <p:spPr>
          <a:xfrm>
            <a:off x="681228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05</a:t>
            </a:r>
            <a:endParaRPr lang="en-US" sz="1400" dirty="0"/>
          </a:p>
        </p:txBody>
      </p:sp>
      <p:sp>
        <p:nvSpPr>
          <p:cNvPr id="22" name="구분 사례명 5"/>
          <p:cNvSpPr txBox="1"/>
          <p:nvPr/>
        </p:nvSpPr>
        <p:spPr>
          <a:xfrm>
            <a:off x="7589520" y="489204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영수증·명함 사진 → 엑셀 표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테마칩"/>
          <p:cNvSpPr/>
          <p:nvPr/>
        </p:nvSpPr>
        <p:spPr>
          <a:xfrm>
            <a:off x="1600200" y="329184"/>
            <a:ext cx="21488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테마칩 글자"/>
          <p:cNvSpPr txBox="1"/>
          <p:nvPr/>
        </p:nvSpPr>
        <p:spPr>
          <a:xfrm>
            <a:off x="1600200" y="32918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 · 업무 자동화</a:t>
            </a:r>
            <a:endParaRPr lang="en-US" sz="1200" dirty="0"/>
          </a:p>
        </p:txBody>
      </p:sp>
      <p:sp>
        <p:nvSpPr>
          <p:cNvPr id="4" name="진행 번호"/>
          <p:cNvSpPr txBox="1"/>
          <p:nvPr/>
        </p:nvSpPr>
        <p:spPr>
          <a:xfrm>
            <a:off x="9811512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01 / 35</a:t>
            </a:r>
            <a:endParaRPr lang="en-US" sz="1200" dirty="0"/>
          </a:p>
        </p:txBody>
      </p:sp>
      <p:sp>
        <p:nvSpPr>
          <p:cNvPr id="5" name="번호원"/>
          <p:cNvSpPr/>
          <p:nvPr/>
        </p:nvSpPr>
        <p:spPr>
          <a:xfrm>
            <a:off x="548640" y="658368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번호"/>
          <p:cNvSpPr txBox="1"/>
          <p:nvPr/>
        </p:nvSpPr>
        <p:spPr>
          <a:xfrm>
            <a:off x="548640" y="6583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1600200" y="65836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엑셀 여러 파일, 한 번에 합치기</a:t>
            </a:r>
            <a:endParaRPr lang="en-US" sz="3000" dirty="0"/>
          </a:p>
        </p:txBody>
      </p:sp>
      <p:sp>
        <p:nvSpPr>
          <p:cNvPr id="8" name="의도 라벨"/>
          <p:cNvSpPr txBox="1"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의도</a:t>
            </a:r>
            <a:endParaRPr lang="en-US" sz="1200" dirty="0"/>
          </a:p>
        </p:txBody>
      </p:sp>
      <p:sp>
        <p:nvSpPr>
          <p:cNvPr id="9" name="의도"/>
          <p:cNvSpPr txBox="1"/>
          <p:nvPr/>
        </p:nvSpPr>
        <p:spPr>
          <a:xfrm>
            <a:off x="54864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부서별로 받은 엑셀 20개를 하나로 합치는 월 마감 노가다를 버튼 한 번으로 줄인다.</a:t>
            </a:r>
            <a:endParaRPr lang="en-US" sz="1600" dirty="0"/>
          </a:p>
        </p:txBody>
      </p:sp>
      <p:sp>
        <p:nvSpPr>
          <p:cNvPr id="10" name="노하우 카드"/>
          <p:cNvSpPr/>
          <p:nvPr/>
        </p:nvSpPr>
        <p:spPr>
          <a:xfrm>
            <a:off x="548640" y="3611880"/>
            <a:ext cx="457200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노하우 라벨"/>
          <p:cNvSpPr txBox="1"/>
          <p:nvPr/>
        </p:nvSpPr>
        <p:spPr>
          <a:xfrm>
            <a:off x="7772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노하우</a:t>
            </a:r>
            <a:endParaRPr lang="en-US" sz="1200" dirty="0"/>
          </a:p>
        </p:txBody>
      </p:sp>
      <p:sp>
        <p:nvSpPr>
          <p:cNvPr id="12" name="노하우"/>
          <p:cNvSpPr txBox="1"/>
          <p:nvPr/>
        </p:nvSpPr>
        <p:spPr>
          <a:xfrm>
            <a:off x="777240" y="406908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샘플 파일 2개로 먼저 시험하세요. 파일마다 열 이름이 다르면 '열 이름 통일 규칙'을 같이 적어야 실수가 없습니다.</a:t>
            </a:r>
            <a:endParaRPr lang="en-US" sz="1400" dirty="0"/>
          </a:p>
        </p:txBody>
      </p:sp>
      <p:sp>
        <p:nvSpPr>
          <p:cNvPr id="13" name="스크립트 카드"/>
          <p:cNvSpPr/>
          <p:nvPr/>
        </p:nvSpPr>
        <p:spPr>
          <a:xfrm>
            <a:off x="5440680" y="1737360"/>
            <a:ext cx="6199632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스크립트 라벨"/>
          <p:cNvSpPr txBox="1"/>
          <p:nvPr/>
        </p:nvSpPr>
        <p:spPr>
          <a:xfrm>
            <a:off x="5715000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AI에게 이렇게 시키세요</a:t>
            </a:r>
            <a:endParaRPr lang="en-US" sz="1200" dirty="0"/>
          </a:p>
        </p:txBody>
      </p:sp>
      <p:sp>
        <p:nvSpPr>
          <p:cNvPr id="15" name="스크립트"/>
          <p:cNvSpPr txBox="1"/>
          <p:nvPr/>
        </p:nvSpPr>
        <p:spPr>
          <a:xfrm>
            <a:off x="5715000" y="2286000"/>
            <a:ext cx="5669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폴더 안의 모든 .xlsx 파일을 읽어서 '매출' 시트만 하나의 표로 합쳐줘.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각 행 맨 앞에 원본 파일명 열을 추가하고, 열 이름은 [날짜, 거래처, 금액]으로 통일해줘.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빈 행은 지우고 결과는 '합본.xlsx'로 저장해줘.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파이썬으로 만들고, 실행 방법을 초보자 기준으로 단계별로 알려줘.</a:t>
            </a:r>
            <a:endParaRPr lang="en-US" sz="1500" dirty="0"/>
          </a:p>
        </p:txBody>
      </p:sp>
      <p:sp>
        <p:nvSpPr>
          <p:cNvPr id="16" name="사례01 용어 배경"/>
          <p:cNvSpPr/>
          <p:nvPr/>
        </p:nvSpPr>
        <p:spPr>
          <a:xfrm>
            <a:off x="548640" y="5943600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사례01 용어"/>
          <p:cNvSpPr txBox="1"/>
          <p:nvPr/>
        </p:nvSpPr>
        <p:spPr>
          <a:xfrm>
            <a:off x="731520" y="5961888"/>
            <a:ext cx="1072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※ 용어 참고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파이썬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엑셀·문서 자동화에 많이 쓰는 프로그래밍 언어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.xlsx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엑셀 파일 형식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열 이름 통일(매핑)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서로 다른 이름을 하나로 짝지어 맞추는 것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테마칩"/>
          <p:cNvSpPr/>
          <p:nvPr/>
        </p:nvSpPr>
        <p:spPr>
          <a:xfrm>
            <a:off x="1600200" y="329184"/>
            <a:ext cx="21488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테마칩 글자"/>
          <p:cNvSpPr txBox="1"/>
          <p:nvPr/>
        </p:nvSpPr>
        <p:spPr>
          <a:xfrm>
            <a:off x="1600200" y="32918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 · 업무 자동화</a:t>
            </a:r>
            <a:endParaRPr lang="en-US" sz="1200" dirty="0"/>
          </a:p>
        </p:txBody>
      </p:sp>
      <p:sp>
        <p:nvSpPr>
          <p:cNvPr id="4" name="진행 번호"/>
          <p:cNvSpPr txBox="1"/>
          <p:nvPr/>
        </p:nvSpPr>
        <p:spPr>
          <a:xfrm>
            <a:off x="9811512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02 / 35</a:t>
            </a:r>
            <a:endParaRPr lang="en-US" sz="1200" dirty="0"/>
          </a:p>
        </p:txBody>
      </p:sp>
      <p:sp>
        <p:nvSpPr>
          <p:cNvPr id="5" name="번호원"/>
          <p:cNvSpPr/>
          <p:nvPr/>
        </p:nvSpPr>
        <p:spPr>
          <a:xfrm>
            <a:off x="548640" y="658368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번호"/>
          <p:cNvSpPr txBox="1"/>
          <p:nvPr/>
        </p:nvSpPr>
        <p:spPr>
          <a:xfrm>
            <a:off x="548640" y="6583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02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1600200" y="65836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주간보고 초안 자동 생성기</a:t>
            </a:r>
            <a:endParaRPr lang="en-US" sz="3000" dirty="0"/>
          </a:p>
        </p:txBody>
      </p:sp>
      <p:sp>
        <p:nvSpPr>
          <p:cNvPr id="8" name="의도 라벨"/>
          <p:cNvSpPr txBox="1"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의도</a:t>
            </a:r>
            <a:endParaRPr lang="en-US" sz="1200" dirty="0"/>
          </a:p>
        </p:txBody>
      </p:sp>
      <p:sp>
        <p:nvSpPr>
          <p:cNvPr id="9" name="의도"/>
          <p:cNvSpPr txBox="1"/>
          <p:nvPr/>
        </p:nvSpPr>
        <p:spPr>
          <a:xfrm>
            <a:off x="54864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월~금 메모를 붙여넣으면 우리 팀 보고 양식에 맞춰 초안이 나오게 한다.</a:t>
            </a:r>
            <a:endParaRPr lang="en-US" sz="1600" dirty="0"/>
          </a:p>
        </p:txBody>
      </p:sp>
      <p:sp>
        <p:nvSpPr>
          <p:cNvPr id="10" name="노하우 카드"/>
          <p:cNvSpPr/>
          <p:nvPr/>
        </p:nvSpPr>
        <p:spPr>
          <a:xfrm>
            <a:off x="548640" y="3611880"/>
            <a:ext cx="457200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노하우 라벨"/>
          <p:cNvSpPr txBox="1"/>
          <p:nvPr/>
        </p:nvSpPr>
        <p:spPr>
          <a:xfrm>
            <a:off x="7772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노하우</a:t>
            </a:r>
            <a:endParaRPr lang="en-US" sz="1200" dirty="0"/>
          </a:p>
        </p:txBody>
      </p:sp>
      <p:sp>
        <p:nvSpPr>
          <p:cNvPr id="12" name="노하우"/>
          <p:cNvSpPr txBox="1"/>
          <p:nvPr/>
        </p:nvSpPr>
        <p:spPr>
          <a:xfrm>
            <a:off x="777240" y="406908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지난주 실제 보고서를 '예시'로 같이 붙이면 말투와 양식을 그대로 따라 합니다. 예시가 가장 강력한 지시입니다.</a:t>
            </a:r>
            <a:endParaRPr lang="en-US" sz="1400" dirty="0"/>
          </a:p>
        </p:txBody>
      </p:sp>
      <p:sp>
        <p:nvSpPr>
          <p:cNvPr id="13" name="스크립트 카드"/>
          <p:cNvSpPr/>
          <p:nvPr/>
        </p:nvSpPr>
        <p:spPr>
          <a:xfrm>
            <a:off x="5440680" y="1737360"/>
            <a:ext cx="6199632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스크립트 라벨"/>
          <p:cNvSpPr txBox="1"/>
          <p:nvPr/>
        </p:nvSpPr>
        <p:spPr>
          <a:xfrm>
            <a:off x="5715000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AI에게 이렇게 시키세요</a:t>
            </a:r>
            <a:endParaRPr lang="en-US" sz="1200" dirty="0"/>
          </a:p>
        </p:txBody>
      </p:sp>
      <p:sp>
        <p:nvSpPr>
          <p:cNvPr id="15" name="스크립트"/>
          <p:cNvSpPr txBox="1"/>
          <p:nvPr/>
        </p:nvSpPr>
        <p:spPr>
          <a:xfrm>
            <a:off x="5715000" y="2286000"/>
            <a:ext cx="5669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아래는 우리 팀 주간보고 예시야. [예시 붙여넣기]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이 양식과 말투를 그대로 따라서, 내가 붙여넣는 날짜별 메모를 '금주 실적 / 차주 계획 / 이슈·요청' 3개 항목으로 정리하는 웹페이지를 만들어줘.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메모 입력칸, 변환 버튼, 결과 복사 버튼이 있어야 해.</a:t>
            </a:r>
            <a:endParaRPr lang="en-US" sz="1500" dirty="0"/>
          </a:p>
        </p:txBody>
      </p:sp>
      <p:sp>
        <p:nvSpPr>
          <p:cNvPr id="16" name="사례02 용어 배경"/>
          <p:cNvSpPr/>
          <p:nvPr/>
        </p:nvSpPr>
        <p:spPr>
          <a:xfrm>
            <a:off x="548640" y="5943600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사례02 용어"/>
          <p:cNvSpPr txBox="1"/>
          <p:nvPr/>
        </p:nvSpPr>
        <p:spPr>
          <a:xfrm>
            <a:off x="731520" y="5961888"/>
            <a:ext cx="1072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※ 용어 참고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웹페이지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크롬 같은 브라우저로 여는 HTML 파일 한 장, 더블클릭만으로 실행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예시 제공(퓨샷)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AI에게 정답 샘플을 보여주고 따라 하게 하는 방식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테마칩"/>
          <p:cNvSpPr/>
          <p:nvPr/>
        </p:nvSpPr>
        <p:spPr>
          <a:xfrm>
            <a:off x="1600200" y="329184"/>
            <a:ext cx="21488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테마칩 글자"/>
          <p:cNvSpPr txBox="1"/>
          <p:nvPr/>
        </p:nvSpPr>
        <p:spPr>
          <a:xfrm>
            <a:off x="1600200" y="32918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 · 업무 자동화</a:t>
            </a:r>
            <a:endParaRPr lang="en-US" sz="1200" dirty="0"/>
          </a:p>
        </p:txBody>
      </p:sp>
      <p:sp>
        <p:nvSpPr>
          <p:cNvPr id="4" name="진행 번호"/>
          <p:cNvSpPr txBox="1"/>
          <p:nvPr/>
        </p:nvSpPr>
        <p:spPr>
          <a:xfrm>
            <a:off x="9811512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03 / 35</a:t>
            </a:r>
            <a:endParaRPr lang="en-US" sz="1200" dirty="0"/>
          </a:p>
        </p:txBody>
      </p:sp>
      <p:sp>
        <p:nvSpPr>
          <p:cNvPr id="5" name="번호원"/>
          <p:cNvSpPr/>
          <p:nvPr/>
        </p:nvSpPr>
        <p:spPr>
          <a:xfrm>
            <a:off x="548640" y="658368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번호"/>
          <p:cNvSpPr txBox="1"/>
          <p:nvPr/>
        </p:nvSpPr>
        <p:spPr>
          <a:xfrm>
            <a:off x="548640" y="6583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03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1600200" y="65836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회의록 → 할 일(액션아이템) 표</a:t>
            </a:r>
            <a:endParaRPr lang="en-US" sz="3000" dirty="0"/>
          </a:p>
        </p:txBody>
      </p:sp>
      <p:sp>
        <p:nvSpPr>
          <p:cNvPr id="8" name="의도 라벨"/>
          <p:cNvSpPr txBox="1"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의도</a:t>
            </a:r>
            <a:endParaRPr lang="en-US" sz="1200" dirty="0"/>
          </a:p>
        </p:txBody>
      </p:sp>
      <p:sp>
        <p:nvSpPr>
          <p:cNvPr id="9" name="의도"/>
          <p:cNvSpPr txBox="1"/>
          <p:nvPr/>
        </p:nvSpPr>
        <p:spPr>
          <a:xfrm>
            <a:off x="54864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두서없는 회의 녹취를 결정사항·할 일·미결 이슈로 자동 분리해서 회의 후 정리 시간을 없앤다.</a:t>
            </a:r>
            <a:endParaRPr lang="en-US" sz="1600" dirty="0"/>
          </a:p>
        </p:txBody>
      </p:sp>
      <p:sp>
        <p:nvSpPr>
          <p:cNvPr id="10" name="노하우 카드"/>
          <p:cNvSpPr/>
          <p:nvPr/>
        </p:nvSpPr>
        <p:spPr>
          <a:xfrm>
            <a:off x="548640" y="3611880"/>
            <a:ext cx="457200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노하우 라벨"/>
          <p:cNvSpPr txBox="1"/>
          <p:nvPr/>
        </p:nvSpPr>
        <p:spPr>
          <a:xfrm>
            <a:off x="7772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노하우</a:t>
            </a:r>
            <a:endParaRPr lang="en-US" sz="1200" dirty="0"/>
          </a:p>
        </p:txBody>
      </p:sp>
      <p:sp>
        <p:nvSpPr>
          <p:cNvPr id="12" name="노하우"/>
          <p:cNvSpPr txBox="1"/>
          <p:nvPr/>
        </p:nvSpPr>
        <p:spPr>
          <a:xfrm>
            <a:off x="777240" y="406908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'담당자·기한이 안 나오면 지어내지 말고 미정으로 표시'라는 규칙을 꼭 넣으세요. AI가 멋대로 채우는 걸 막아줍니다.</a:t>
            </a:r>
            <a:endParaRPr lang="en-US" sz="1400" dirty="0"/>
          </a:p>
        </p:txBody>
      </p:sp>
      <p:sp>
        <p:nvSpPr>
          <p:cNvPr id="13" name="스크립트 카드"/>
          <p:cNvSpPr/>
          <p:nvPr/>
        </p:nvSpPr>
        <p:spPr>
          <a:xfrm>
            <a:off x="5440680" y="1737360"/>
            <a:ext cx="6199632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스크립트 라벨"/>
          <p:cNvSpPr txBox="1"/>
          <p:nvPr/>
        </p:nvSpPr>
        <p:spPr>
          <a:xfrm>
            <a:off x="5715000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AI에게 이렇게 시키세요</a:t>
            </a:r>
            <a:endParaRPr lang="en-US" sz="1200" dirty="0"/>
          </a:p>
        </p:txBody>
      </p:sp>
      <p:sp>
        <p:nvSpPr>
          <p:cNvPr id="15" name="스크립트"/>
          <p:cNvSpPr txBox="1"/>
          <p:nvPr/>
        </p:nvSpPr>
        <p:spPr>
          <a:xfrm>
            <a:off x="5715000" y="2286000"/>
            <a:ext cx="5669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회의 녹취 텍스트를 붙여넣으면 ①결정사항 ②할 일(담당자·기한·내용) ③미결 이슈로 나누는 도구를 만들어줘.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담당자나 기한이 언급되지 않았으면 추측하지 말고 '미정'으로 표시해줘.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결과는 화면 표와 CSV 다운로드 둘 다 제공해줘.</a:t>
            </a:r>
            <a:endParaRPr lang="en-US" sz="1500" dirty="0"/>
          </a:p>
        </p:txBody>
      </p:sp>
      <p:sp>
        <p:nvSpPr>
          <p:cNvPr id="16" name="사례03 용어 배경"/>
          <p:cNvSpPr/>
          <p:nvPr/>
        </p:nvSpPr>
        <p:spPr>
          <a:xfrm>
            <a:off x="548640" y="5943600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사례03 용어"/>
          <p:cNvSpPr txBox="1"/>
          <p:nvPr/>
        </p:nvSpPr>
        <p:spPr>
          <a:xfrm>
            <a:off x="731520" y="5961888"/>
            <a:ext cx="1072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※ 용어 참고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액션아이템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회의 후 누가 언제까지 할 일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CSV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쉼표로 구분한 표 데이터 파일, 엑셀로 바로 열림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테마칩"/>
          <p:cNvSpPr/>
          <p:nvPr/>
        </p:nvSpPr>
        <p:spPr>
          <a:xfrm>
            <a:off x="1600200" y="329184"/>
            <a:ext cx="21488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테마칩 글자"/>
          <p:cNvSpPr txBox="1"/>
          <p:nvPr/>
        </p:nvSpPr>
        <p:spPr>
          <a:xfrm>
            <a:off x="1600200" y="32918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 · 업무 자동화</a:t>
            </a:r>
            <a:endParaRPr lang="en-US" sz="1200" dirty="0"/>
          </a:p>
        </p:txBody>
      </p:sp>
      <p:sp>
        <p:nvSpPr>
          <p:cNvPr id="4" name="진행 번호"/>
          <p:cNvSpPr txBox="1"/>
          <p:nvPr/>
        </p:nvSpPr>
        <p:spPr>
          <a:xfrm>
            <a:off x="9811512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04 / 35</a:t>
            </a:r>
            <a:endParaRPr lang="en-US" sz="1200" dirty="0"/>
          </a:p>
        </p:txBody>
      </p:sp>
      <p:sp>
        <p:nvSpPr>
          <p:cNvPr id="5" name="번호원"/>
          <p:cNvSpPr/>
          <p:nvPr/>
        </p:nvSpPr>
        <p:spPr>
          <a:xfrm>
            <a:off x="548640" y="658368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번호"/>
          <p:cNvSpPr txBox="1"/>
          <p:nvPr/>
        </p:nvSpPr>
        <p:spPr>
          <a:xfrm>
            <a:off x="548640" y="6583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04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1600200" y="65836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다운로드 폴더 자동 정리</a:t>
            </a:r>
            <a:endParaRPr lang="en-US" sz="3000" dirty="0"/>
          </a:p>
        </p:txBody>
      </p:sp>
      <p:sp>
        <p:nvSpPr>
          <p:cNvPr id="8" name="의도 라벨"/>
          <p:cNvSpPr txBox="1"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의도</a:t>
            </a:r>
            <a:endParaRPr lang="en-US" sz="1200" dirty="0"/>
          </a:p>
        </p:txBody>
      </p:sp>
      <p:sp>
        <p:nvSpPr>
          <p:cNvPr id="9" name="의도"/>
          <p:cNvSpPr txBox="1"/>
          <p:nvPr/>
        </p:nvSpPr>
        <p:spPr>
          <a:xfrm>
            <a:off x="54864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어질러진 폴더를 종류별·날짜별로 정리하고 파일명을 통일해서 '그 파일 어디 갔지?'를 없앤다.</a:t>
            </a:r>
            <a:endParaRPr lang="en-US" sz="1600" dirty="0"/>
          </a:p>
        </p:txBody>
      </p:sp>
      <p:sp>
        <p:nvSpPr>
          <p:cNvPr id="10" name="노하우 카드"/>
          <p:cNvSpPr/>
          <p:nvPr/>
        </p:nvSpPr>
        <p:spPr>
          <a:xfrm>
            <a:off x="548640" y="3611880"/>
            <a:ext cx="457200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노하우 라벨"/>
          <p:cNvSpPr txBox="1"/>
          <p:nvPr/>
        </p:nvSpPr>
        <p:spPr>
          <a:xfrm>
            <a:off x="7772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노하우</a:t>
            </a:r>
            <a:endParaRPr lang="en-US" sz="1200" dirty="0"/>
          </a:p>
        </p:txBody>
      </p:sp>
      <p:sp>
        <p:nvSpPr>
          <p:cNvPr id="12" name="노하우"/>
          <p:cNvSpPr txBox="1"/>
          <p:nvPr/>
        </p:nvSpPr>
        <p:spPr>
          <a:xfrm>
            <a:off x="777240" y="406908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항상 '실행 전 미리보기'를 요구하고, '삭제는 절대 하지 마'를 명시하세요. 파일을 건드리는 작업의 안전장치입니다.</a:t>
            </a:r>
            <a:endParaRPr lang="en-US" sz="1400" dirty="0"/>
          </a:p>
        </p:txBody>
      </p:sp>
      <p:sp>
        <p:nvSpPr>
          <p:cNvPr id="13" name="스크립트 카드"/>
          <p:cNvSpPr/>
          <p:nvPr/>
        </p:nvSpPr>
        <p:spPr>
          <a:xfrm>
            <a:off x="5440680" y="1737360"/>
            <a:ext cx="6199632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스크립트 라벨"/>
          <p:cNvSpPr txBox="1"/>
          <p:nvPr/>
        </p:nvSpPr>
        <p:spPr>
          <a:xfrm>
            <a:off x="5715000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AI에게 이렇게 시키세요</a:t>
            </a:r>
            <a:endParaRPr lang="en-US" sz="1200" dirty="0"/>
          </a:p>
        </p:txBody>
      </p:sp>
      <p:sp>
        <p:nvSpPr>
          <p:cNvPr id="15" name="스크립트"/>
          <p:cNvSpPr txBox="1"/>
          <p:nvPr/>
        </p:nvSpPr>
        <p:spPr>
          <a:xfrm>
            <a:off x="5715000" y="2286000"/>
            <a:ext cx="5669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내 '다운로드' 폴더의 파일을 확장자별(문서/이미지/압축)로 하위 폴더에 옮기고, 파일명 앞에 수정한 날짜(YYMMDD)를 붙여줘.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실제로 옮기기 전에 '이렇게 바꿀 예정' 목록을 먼저 보여주고, 내가 y를 입력하면 실행해줘.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파일 삭제는 절대 하지 마.</a:t>
            </a:r>
            <a:endParaRPr lang="en-US" sz="1500" dirty="0"/>
          </a:p>
        </p:txBody>
      </p:sp>
      <p:sp>
        <p:nvSpPr>
          <p:cNvPr id="16" name="사례04 용어 배경"/>
          <p:cNvSpPr/>
          <p:nvPr/>
        </p:nvSpPr>
        <p:spPr>
          <a:xfrm>
            <a:off x="548640" y="5943600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사례04 용어"/>
          <p:cNvSpPr txBox="1"/>
          <p:nvPr/>
        </p:nvSpPr>
        <p:spPr>
          <a:xfrm>
            <a:off x="731520" y="5961888"/>
            <a:ext cx="1072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※ 용어 참고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확장자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.pdf, .jpg처럼 파일 종류를 나타내는 꼬리표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미리보기(드라이런)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실제 실행 없이 결과만 먼저 보여주는 시험 실행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테마칩"/>
          <p:cNvSpPr/>
          <p:nvPr/>
        </p:nvSpPr>
        <p:spPr>
          <a:xfrm>
            <a:off x="1600200" y="329184"/>
            <a:ext cx="21488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테마칩 글자"/>
          <p:cNvSpPr txBox="1"/>
          <p:nvPr/>
        </p:nvSpPr>
        <p:spPr>
          <a:xfrm>
            <a:off x="1600200" y="32918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 · 업무 자동화</a:t>
            </a:r>
            <a:endParaRPr lang="en-US" sz="1200" dirty="0"/>
          </a:p>
        </p:txBody>
      </p:sp>
      <p:sp>
        <p:nvSpPr>
          <p:cNvPr id="4" name="진행 번호"/>
          <p:cNvSpPr txBox="1"/>
          <p:nvPr/>
        </p:nvSpPr>
        <p:spPr>
          <a:xfrm>
            <a:off x="9811512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05 / 35</a:t>
            </a:r>
            <a:endParaRPr lang="en-US" sz="1200" dirty="0"/>
          </a:p>
        </p:txBody>
      </p:sp>
      <p:sp>
        <p:nvSpPr>
          <p:cNvPr id="5" name="번호원"/>
          <p:cNvSpPr/>
          <p:nvPr/>
        </p:nvSpPr>
        <p:spPr>
          <a:xfrm>
            <a:off x="548640" y="658368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번호"/>
          <p:cNvSpPr txBox="1"/>
          <p:nvPr/>
        </p:nvSpPr>
        <p:spPr>
          <a:xfrm>
            <a:off x="548640" y="6583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05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1600200" y="65836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영수증·명함 사진 → 엑셀 표</a:t>
            </a:r>
            <a:endParaRPr lang="en-US" sz="3000" dirty="0"/>
          </a:p>
        </p:txBody>
      </p:sp>
      <p:sp>
        <p:nvSpPr>
          <p:cNvPr id="8" name="의도 라벨"/>
          <p:cNvSpPr txBox="1"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의도</a:t>
            </a:r>
            <a:endParaRPr lang="en-US" sz="1200" dirty="0"/>
          </a:p>
        </p:txBody>
      </p:sp>
      <p:sp>
        <p:nvSpPr>
          <p:cNvPr id="9" name="의도"/>
          <p:cNvSpPr txBox="1"/>
          <p:nvPr/>
        </p:nvSpPr>
        <p:spPr>
          <a:xfrm>
            <a:off x="54864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찍어둔 영수증·명함 사진을 읽어서 정산용 표로 바꾼다. 출장 정산이 5분으로 줄어드는 신기한 활용.</a:t>
            </a:r>
            <a:endParaRPr lang="en-US" sz="1600" dirty="0"/>
          </a:p>
        </p:txBody>
      </p:sp>
      <p:sp>
        <p:nvSpPr>
          <p:cNvPr id="10" name="노하우 카드"/>
          <p:cNvSpPr/>
          <p:nvPr/>
        </p:nvSpPr>
        <p:spPr>
          <a:xfrm>
            <a:off x="548640" y="3611880"/>
            <a:ext cx="457200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노하우 라벨"/>
          <p:cNvSpPr txBox="1"/>
          <p:nvPr/>
        </p:nvSpPr>
        <p:spPr>
          <a:xfrm>
            <a:off x="7772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노하우</a:t>
            </a:r>
            <a:endParaRPr lang="en-US" sz="1200" dirty="0"/>
          </a:p>
        </p:txBody>
      </p:sp>
      <p:sp>
        <p:nvSpPr>
          <p:cNvPr id="12" name="노하우"/>
          <p:cNvSpPr txBox="1"/>
          <p:nvPr/>
        </p:nvSpPr>
        <p:spPr>
          <a:xfrm>
            <a:off x="777240" y="406908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AI가 못 읽은 칸은 '확인필요'로 남기게 하세요. 틀린 값이 조용히 섞이는 것보다 훨씬 안전합니다.</a:t>
            </a:r>
            <a:endParaRPr lang="en-US" sz="1400" dirty="0"/>
          </a:p>
        </p:txBody>
      </p:sp>
      <p:sp>
        <p:nvSpPr>
          <p:cNvPr id="13" name="스크립트 카드"/>
          <p:cNvSpPr/>
          <p:nvPr/>
        </p:nvSpPr>
        <p:spPr>
          <a:xfrm>
            <a:off x="5440680" y="1737360"/>
            <a:ext cx="6199632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스크립트 라벨"/>
          <p:cNvSpPr txBox="1"/>
          <p:nvPr/>
        </p:nvSpPr>
        <p:spPr>
          <a:xfrm>
            <a:off x="5715000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AI에게 이렇게 시키세요</a:t>
            </a:r>
            <a:endParaRPr lang="en-US" sz="1200" dirty="0"/>
          </a:p>
        </p:txBody>
      </p:sp>
      <p:sp>
        <p:nvSpPr>
          <p:cNvPr id="15" name="스크립트"/>
          <p:cNvSpPr txBox="1"/>
          <p:nvPr/>
        </p:nvSpPr>
        <p:spPr>
          <a:xfrm>
            <a:off x="5715000" y="2286000"/>
            <a:ext cx="5669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폴더 안의 영수증 사진들을 읽어서 [날짜, 상호, 금액, 항목]을 표로 뽑는 프로그램을 만들어줘.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글자 인식은 AI 이미지 인식 API를 써도 돼.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읽기 어려운 칸은 '확인필요'로 표시하고, 맨 아래에 합계 행을 넣어줘.</a:t>
            </a:r>
            <a:endParaRPr lang="en-US" sz="1500" dirty="0"/>
          </a:p>
        </p:txBody>
      </p:sp>
      <p:sp>
        <p:nvSpPr>
          <p:cNvPr id="16" name="사례05 용어 배경"/>
          <p:cNvSpPr/>
          <p:nvPr/>
        </p:nvSpPr>
        <p:spPr>
          <a:xfrm>
            <a:off x="548640" y="5943600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사례05 용어"/>
          <p:cNvSpPr txBox="1"/>
          <p:nvPr/>
        </p:nvSpPr>
        <p:spPr>
          <a:xfrm>
            <a:off x="731520" y="5961888"/>
            <a:ext cx="1072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※ 용어 참고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OCR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사진 속 글자를 문자 데이터로 바꾸는 기술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API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프로그램끼리 요청·응답하는 통로. 내 프로그램에서 AI를 부르는 창구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구분 아이콘 원"/>
          <p:cNvSpPr/>
          <p:nvPr/>
        </p:nvSpPr>
        <p:spPr>
          <a:xfrm>
            <a:off x="822960" y="1371600"/>
            <a:ext cx="1554480" cy="1554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" name="Image 0" descr="사내 미니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828800"/>
            <a:ext cx="640080" cy="640080"/>
          </a:xfrm>
          <a:prstGeom prst="rect">
            <a:avLst/>
          </a:prstGeom>
        </p:spPr>
      </p:pic>
      <p:sp>
        <p:nvSpPr>
          <p:cNvPr id="4" name="구분 라벨"/>
          <p:cNvSpPr txBox="1"/>
          <p:nvPr/>
        </p:nvSpPr>
        <p:spPr>
          <a:xfrm>
            <a:off x="822960" y="2926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THEME B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32461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사내 미니앱</a:t>
            </a:r>
            <a:endParaRPr lang="en-US" sz="4000" dirty="0"/>
          </a:p>
        </p:txBody>
      </p:sp>
      <p:sp>
        <p:nvSpPr>
          <p:cNvPr id="6" name="구분 설명"/>
          <p:cNvSpPr txBox="1"/>
          <p:nvPr/>
        </p:nvSpPr>
        <p:spPr>
          <a:xfrm>
            <a:off x="822960" y="42519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개발팀 없이 우리 팀 전용 작은 앱 만들기</a:t>
            </a:r>
            <a:endParaRPr lang="en-US" sz="1800" dirty="0"/>
          </a:p>
        </p:txBody>
      </p:sp>
      <p:sp>
        <p:nvSpPr>
          <p:cNvPr id="7" name="구분 목록 카드"/>
          <p:cNvSpPr/>
          <p:nvPr/>
        </p:nvSpPr>
        <p:spPr>
          <a:xfrm>
            <a:off x="6492240" y="1097280"/>
            <a:ext cx="5148072" cy="466344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구분 번호원 6"/>
          <p:cNvSpPr/>
          <p:nvPr/>
        </p:nvSpPr>
        <p:spPr>
          <a:xfrm>
            <a:off x="6812280" y="14173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구분 번호 6"/>
          <p:cNvSpPr txBox="1"/>
          <p:nvPr/>
        </p:nvSpPr>
        <p:spPr>
          <a:xfrm>
            <a:off x="68122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06</a:t>
            </a:r>
            <a:endParaRPr lang="en-US" sz="1400" dirty="0"/>
          </a:p>
        </p:txBody>
      </p:sp>
      <p:sp>
        <p:nvSpPr>
          <p:cNvPr id="10" name="구분 사례명 6"/>
          <p:cNvSpPr txBox="1"/>
          <p:nvPr/>
        </p:nvSpPr>
        <p:spPr>
          <a:xfrm>
            <a:off x="7589520" y="141732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팀 휴가·재택 현황판</a:t>
            </a:r>
            <a:endParaRPr lang="en-US" sz="1600" dirty="0"/>
          </a:p>
        </p:txBody>
      </p:sp>
      <p:sp>
        <p:nvSpPr>
          <p:cNvPr id="11" name="구분 번호원 7"/>
          <p:cNvSpPr/>
          <p:nvPr/>
        </p:nvSpPr>
        <p:spPr>
          <a:xfrm>
            <a:off x="6812280" y="22860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구분 번호 7"/>
          <p:cNvSpPr txBox="1"/>
          <p:nvPr/>
        </p:nvSpPr>
        <p:spPr>
          <a:xfrm>
            <a:off x="68122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07</a:t>
            </a:r>
            <a:endParaRPr lang="en-US" sz="1400" dirty="0"/>
          </a:p>
        </p:txBody>
      </p:sp>
      <p:sp>
        <p:nvSpPr>
          <p:cNvPr id="13" name="구분 사례명 7"/>
          <p:cNvSpPr txBox="1"/>
          <p:nvPr/>
        </p:nvSpPr>
        <p:spPr>
          <a:xfrm>
            <a:off x="7589520" y="228600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견적서 자동 계산기</a:t>
            </a:r>
            <a:endParaRPr lang="en-US" sz="1600" dirty="0"/>
          </a:p>
        </p:txBody>
      </p:sp>
      <p:sp>
        <p:nvSpPr>
          <p:cNvPr id="14" name="구분 번호원 8"/>
          <p:cNvSpPr/>
          <p:nvPr/>
        </p:nvSpPr>
        <p:spPr>
          <a:xfrm>
            <a:off x="6812280" y="31546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구분 번호 8"/>
          <p:cNvSpPr txBox="1"/>
          <p:nvPr/>
        </p:nvSpPr>
        <p:spPr>
          <a:xfrm>
            <a:off x="681228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08</a:t>
            </a:r>
            <a:endParaRPr lang="en-US" sz="1400" dirty="0"/>
          </a:p>
        </p:txBody>
      </p:sp>
      <p:sp>
        <p:nvSpPr>
          <p:cNvPr id="16" name="구분 사례명 8"/>
          <p:cNvSpPr txBox="1"/>
          <p:nvPr/>
        </p:nvSpPr>
        <p:spPr>
          <a:xfrm>
            <a:off x="7589520" y="315468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교육 신청 폼 + 정원 집계 화면</a:t>
            </a:r>
            <a:endParaRPr lang="en-US" sz="1600" dirty="0"/>
          </a:p>
        </p:txBody>
      </p:sp>
      <p:sp>
        <p:nvSpPr>
          <p:cNvPr id="17" name="구분 번호원 9"/>
          <p:cNvSpPr/>
          <p:nvPr/>
        </p:nvSpPr>
        <p:spPr>
          <a:xfrm>
            <a:off x="6812280" y="40233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구분 번호 9"/>
          <p:cNvSpPr txBox="1"/>
          <p:nvPr/>
        </p:nvSpPr>
        <p:spPr>
          <a:xfrm>
            <a:off x="681228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09</a:t>
            </a:r>
            <a:endParaRPr lang="en-US" sz="1400" dirty="0"/>
          </a:p>
        </p:txBody>
      </p:sp>
      <p:sp>
        <p:nvSpPr>
          <p:cNvPr id="19" name="구분 사례명 9"/>
          <p:cNvSpPr txBox="1"/>
          <p:nvPr/>
        </p:nvSpPr>
        <p:spPr>
          <a:xfrm>
            <a:off x="7589520" y="402336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신입 온보딩 체크리스트 앱</a:t>
            </a:r>
            <a:endParaRPr lang="en-US" sz="1600" dirty="0"/>
          </a:p>
        </p:txBody>
      </p:sp>
      <p:sp>
        <p:nvSpPr>
          <p:cNvPr id="20" name="구분 번호원 10"/>
          <p:cNvSpPr/>
          <p:nvPr/>
        </p:nvSpPr>
        <p:spPr>
          <a:xfrm>
            <a:off x="6812280" y="4892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구분 번호 10"/>
          <p:cNvSpPr txBox="1"/>
          <p:nvPr/>
        </p:nvSpPr>
        <p:spPr>
          <a:xfrm>
            <a:off x="681228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10</a:t>
            </a:r>
            <a:endParaRPr lang="en-US" sz="1400" dirty="0"/>
          </a:p>
        </p:txBody>
      </p:sp>
      <p:sp>
        <p:nvSpPr>
          <p:cNvPr id="22" name="구분 사례명 10"/>
          <p:cNvSpPr txBox="1"/>
          <p:nvPr/>
        </p:nvSpPr>
        <p:spPr>
          <a:xfrm>
            <a:off x="7589520" y="489204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자리 배치도·좌석 시각화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테마칩"/>
          <p:cNvSpPr/>
          <p:nvPr/>
        </p:nvSpPr>
        <p:spPr>
          <a:xfrm>
            <a:off x="1600200" y="329184"/>
            <a:ext cx="214884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테마칩 글자"/>
          <p:cNvSpPr txBox="1"/>
          <p:nvPr/>
        </p:nvSpPr>
        <p:spPr>
          <a:xfrm>
            <a:off x="1600200" y="32918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 · 사내 미니앱</a:t>
            </a:r>
            <a:endParaRPr lang="en-US" sz="1200" dirty="0"/>
          </a:p>
        </p:txBody>
      </p:sp>
      <p:sp>
        <p:nvSpPr>
          <p:cNvPr id="4" name="진행 번호"/>
          <p:cNvSpPr txBox="1"/>
          <p:nvPr/>
        </p:nvSpPr>
        <p:spPr>
          <a:xfrm>
            <a:off x="9811512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06 / 35</a:t>
            </a:r>
            <a:endParaRPr lang="en-US" sz="1200" dirty="0"/>
          </a:p>
        </p:txBody>
      </p:sp>
      <p:sp>
        <p:nvSpPr>
          <p:cNvPr id="5" name="번호원"/>
          <p:cNvSpPr/>
          <p:nvPr/>
        </p:nvSpPr>
        <p:spPr>
          <a:xfrm>
            <a:off x="548640" y="658368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번호"/>
          <p:cNvSpPr txBox="1"/>
          <p:nvPr/>
        </p:nvSpPr>
        <p:spPr>
          <a:xfrm>
            <a:off x="548640" y="6583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06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1600200" y="65836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팀 휴가·재택 현황판</a:t>
            </a:r>
            <a:endParaRPr lang="en-US" sz="3000" dirty="0"/>
          </a:p>
        </p:txBody>
      </p:sp>
      <p:sp>
        <p:nvSpPr>
          <p:cNvPr id="8" name="의도 라벨"/>
          <p:cNvSpPr txBox="1"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의도</a:t>
            </a:r>
            <a:endParaRPr lang="en-US" sz="1200" dirty="0"/>
          </a:p>
        </p:txBody>
      </p:sp>
      <p:sp>
        <p:nvSpPr>
          <p:cNvPr id="9" name="의도"/>
          <p:cNvSpPr txBox="1"/>
          <p:nvPr/>
        </p:nvSpPr>
        <p:spPr>
          <a:xfrm>
            <a:off x="54864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'오늘 누구 자리에 없지?'를 메신저로 묻지 않고, 한 화면에서 바로 확인하게 한다.</a:t>
            </a:r>
            <a:endParaRPr lang="en-US" sz="1600" dirty="0"/>
          </a:p>
        </p:txBody>
      </p:sp>
      <p:sp>
        <p:nvSpPr>
          <p:cNvPr id="10" name="노하우 카드"/>
          <p:cNvSpPr/>
          <p:nvPr/>
        </p:nvSpPr>
        <p:spPr>
          <a:xfrm>
            <a:off x="548640" y="3611880"/>
            <a:ext cx="457200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노하우 라벨"/>
          <p:cNvSpPr txBox="1"/>
          <p:nvPr/>
        </p:nvSpPr>
        <p:spPr>
          <a:xfrm>
            <a:off x="7772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노하우</a:t>
            </a:r>
            <a:endParaRPr lang="en-US" sz="1200" dirty="0"/>
          </a:p>
        </p:txBody>
      </p:sp>
      <p:sp>
        <p:nvSpPr>
          <p:cNvPr id="12" name="노하우"/>
          <p:cNvSpPr txBox="1"/>
          <p:nvPr/>
        </p:nvSpPr>
        <p:spPr>
          <a:xfrm>
            <a:off x="777240" y="406908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처음엔 서버 없이 브라우저 저장으로 시작하세요. 설치·비용 없이 되고, 필요해지면 그때 공유 방식을 업그레이드하면 됩니다.</a:t>
            </a:r>
            <a:endParaRPr lang="en-US" sz="1400" dirty="0"/>
          </a:p>
        </p:txBody>
      </p:sp>
      <p:sp>
        <p:nvSpPr>
          <p:cNvPr id="13" name="스크립트 카드"/>
          <p:cNvSpPr/>
          <p:nvPr/>
        </p:nvSpPr>
        <p:spPr>
          <a:xfrm>
            <a:off x="5440680" y="1737360"/>
            <a:ext cx="6199632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스크립트 라벨"/>
          <p:cNvSpPr txBox="1"/>
          <p:nvPr/>
        </p:nvSpPr>
        <p:spPr>
          <a:xfrm>
            <a:off x="5715000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AI에게 이렇게 시키세요</a:t>
            </a:r>
            <a:endParaRPr lang="en-US" sz="1200" dirty="0"/>
          </a:p>
        </p:txBody>
      </p:sp>
      <p:sp>
        <p:nvSpPr>
          <p:cNvPr id="15" name="스크립트"/>
          <p:cNvSpPr txBox="1"/>
          <p:nvPr/>
        </p:nvSpPr>
        <p:spPr>
          <a:xfrm>
            <a:off x="5715000" y="2286000"/>
            <a:ext cx="5669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팀원 8명의 휴가·재택·출장 일정을 월 달력에 색깔로 보여주는 웹페이지를 만들어줘.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일정 입력창과 삭제 버튼이 있고, 오늘 자리를 비운 사람이 맨 위에 보이게 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데이터는 브라우저에 저장해서 서버 없이 동작하게 해줘.</a:t>
            </a:r>
            <a:endParaRPr lang="en-US" sz="1500" dirty="0"/>
          </a:p>
        </p:txBody>
      </p:sp>
      <p:sp>
        <p:nvSpPr>
          <p:cNvPr id="16" name="사례06 용어 배경"/>
          <p:cNvSpPr/>
          <p:nvPr/>
        </p:nvSpPr>
        <p:spPr>
          <a:xfrm>
            <a:off x="548640" y="5943600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사례06 용어"/>
          <p:cNvSpPr txBox="1"/>
          <p:nvPr/>
        </p:nvSpPr>
        <p:spPr>
          <a:xfrm>
            <a:off x="731520" y="5961888"/>
            <a:ext cx="1072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※ 용어 참고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서버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데이터를 보관하고 여러 사람에게 내주는 컴퓨터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브라우저 저장(localStorage)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내 크롬 안에 간단히 기록해두는 작은 저장 공간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테마칩"/>
          <p:cNvSpPr/>
          <p:nvPr/>
        </p:nvSpPr>
        <p:spPr>
          <a:xfrm>
            <a:off x="1600200" y="329184"/>
            <a:ext cx="214884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테마칩 글자"/>
          <p:cNvSpPr txBox="1"/>
          <p:nvPr/>
        </p:nvSpPr>
        <p:spPr>
          <a:xfrm>
            <a:off x="1600200" y="32918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 · 사내 미니앱</a:t>
            </a:r>
            <a:endParaRPr lang="en-US" sz="1200" dirty="0"/>
          </a:p>
        </p:txBody>
      </p:sp>
      <p:sp>
        <p:nvSpPr>
          <p:cNvPr id="4" name="진행 번호"/>
          <p:cNvSpPr txBox="1"/>
          <p:nvPr/>
        </p:nvSpPr>
        <p:spPr>
          <a:xfrm>
            <a:off x="9811512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07 / 35</a:t>
            </a:r>
            <a:endParaRPr lang="en-US" sz="1200" dirty="0"/>
          </a:p>
        </p:txBody>
      </p:sp>
      <p:sp>
        <p:nvSpPr>
          <p:cNvPr id="5" name="번호원"/>
          <p:cNvSpPr/>
          <p:nvPr/>
        </p:nvSpPr>
        <p:spPr>
          <a:xfrm>
            <a:off x="548640" y="658368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번호"/>
          <p:cNvSpPr txBox="1"/>
          <p:nvPr/>
        </p:nvSpPr>
        <p:spPr>
          <a:xfrm>
            <a:off x="548640" y="6583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07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1600200" y="65836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견적서 자동 계산기</a:t>
            </a:r>
            <a:endParaRPr lang="en-US" sz="3000" dirty="0"/>
          </a:p>
        </p:txBody>
      </p:sp>
      <p:sp>
        <p:nvSpPr>
          <p:cNvPr id="8" name="의도 라벨"/>
          <p:cNvSpPr txBox="1"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의도</a:t>
            </a:r>
            <a:endParaRPr lang="en-US" sz="1200" dirty="0"/>
          </a:p>
        </p:txBody>
      </p:sp>
      <p:sp>
        <p:nvSpPr>
          <p:cNvPr id="9" name="의도"/>
          <p:cNvSpPr txBox="1"/>
          <p:nvPr/>
        </p:nvSpPr>
        <p:spPr>
          <a:xfrm>
            <a:off x="54864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품목·수량만 넣으면 부가세까지 계산된 견적서가 바로 나와 엑셀 수식 실수를 없앤다.</a:t>
            </a:r>
            <a:endParaRPr lang="en-US" sz="1600" dirty="0"/>
          </a:p>
        </p:txBody>
      </p:sp>
      <p:sp>
        <p:nvSpPr>
          <p:cNvPr id="10" name="노하우 카드"/>
          <p:cNvSpPr/>
          <p:nvPr/>
        </p:nvSpPr>
        <p:spPr>
          <a:xfrm>
            <a:off x="548640" y="3611880"/>
            <a:ext cx="457200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노하우 라벨"/>
          <p:cNvSpPr txBox="1"/>
          <p:nvPr/>
        </p:nvSpPr>
        <p:spPr>
          <a:xfrm>
            <a:off x="7772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노하우</a:t>
            </a:r>
            <a:endParaRPr lang="en-US" sz="1200" dirty="0"/>
          </a:p>
        </p:txBody>
      </p:sp>
      <p:sp>
        <p:nvSpPr>
          <p:cNvPr id="12" name="노하우"/>
          <p:cNvSpPr txBox="1"/>
          <p:nvPr/>
        </p:nvSpPr>
        <p:spPr>
          <a:xfrm>
            <a:off x="777240" y="406908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'단가표는 코드 맨 위 목록에만 둬서 나중에 내가 고치기 쉽게'라고 하면 가격 변경 때 코드를 안 건드려도 됩니다.</a:t>
            </a:r>
            <a:endParaRPr lang="en-US" sz="1400" dirty="0"/>
          </a:p>
        </p:txBody>
      </p:sp>
      <p:sp>
        <p:nvSpPr>
          <p:cNvPr id="13" name="스크립트 카드"/>
          <p:cNvSpPr/>
          <p:nvPr/>
        </p:nvSpPr>
        <p:spPr>
          <a:xfrm>
            <a:off x="5440680" y="1737360"/>
            <a:ext cx="6199632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스크립트 라벨"/>
          <p:cNvSpPr txBox="1"/>
          <p:nvPr/>
        </p:nvSpPr>
        <p:spPr>
          <a:xfrm>
            <a:off x="5715000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AI에게 이렇게 시키세요</a:t>
            </a:r>
            <a:endParaRPr lang="en-US" sz="1200" dirty="0"/>
          </a:p>
        </p:txBody>
      </p:sp>
      <p:sp>
        <p:nvSpPr>
          <p:cNvPr id="15" name="스크립트"/>
          <p:cNvSpPr txBox="1"/>
          <p:nvPr/>
        </p:nvSpPr>
        <p:spPr>
          <a:xfrm>
            <a:off x="5715000" y="2286000"/>
            <a:ext cx="5669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품목·수량·단가를 입력하면 공급가액, 부가세 10%, 합계가 자동 계산되는 웹페이지를 만들어줘.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인쇄용 견적서 화면(로고 자리, 견적번호, 유효기간 포함)으로 보여주고, 'PDF로 저장' 버튼을 넣어줘.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단가표는 코드 맨 위 목록에만 두어서 내가 쉽게 고칠 수 있게 해줘.</a:t>
            </a:r>
            <a:endParaRPr lang="en-US" sz="1500" dirty="0"/>
          </a:p>
        </p:txBody>
      </p:sp>
      <p:sp>
        <p:nvSpPr>
          <p:cNvPr id="16" name="사례07 용어 배경"/>
          <p:cNvSpPr/>
          <p:nvPr/>
        </p:nvSpPr>
        <p:spPr>
          <a:xfrm>
            <a:off x="548640" y="5943600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사례07 용어"/>
          <p:cNvSpPr txBox="1"/>
          <p:nvPr/>
        </p:nvSpPr>
        <p:spPr>
          <a:xfrm>
            <a:off x="731520" y="5961888"/>
            <a:ext cx="1072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※ 용어 참고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공급가액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부가세를 뺀 순수 금액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인쇄용 화면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프린터·PDF 저장 시 깔끔하게 보이도록 따로 맞춘 화면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테마칩"/>
          <p:cNvSpPr/>
          <p:nvPr/>
        </p:nvSpPr>
        <p:spPr>
          <a:xfrm>
            <a:off x="1600200" y="329184"/>
            <a:ext cx="214884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테마칩 글자"/>
          <p:cNvSpPr txBox="1"/>
          <p:nvPr/>
        </p:nvSpPr>
        <p:spPr>
          <a:xfrm>
            <a:off x="1600200" y="32918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 · 사내 미니앱</a:t>
            </a:r>
            <a:endParaRPr lang="en-US" sz="1200" dirty="0"/>
          </a:p>
        </p:txBody>
      </p:sp>
      <p:sp>
        <p:nvSpPr>
          <p:cNvPr id="4" name="진행 번호"/>
          <p:cNvSpPr txBox="1"/>
          <p:nvPr/>
        </p:nvSpPr>
        <p:spPr>
          <a:xfrm>
            <a:off x="9811512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08 / 35</a:t>
            </a:r>
            <a:endParaRPr lang="en-US" sz="1200" dirty="0"/>
          </a:p>
        </p:txBody>
      </p:sp>
      <p:sp>
        <p:nvSpPr>
          <p:cNvPr id="5" name="번호원"/>
          <p:cNvSpPr/>
          <p:nvPr/>
        </p:nvSpPr>
        <p:spPr>
          <a:xfrm>
            <a:off x="548640" y="658368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번호"/>
          <p:cNvSpPr txBox="1"/>
          <p:nvPr/>
        </p:nvSpPr>
        <p:spPr>
          <a:xfrm>
            <a:off x="548640" y="6583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08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1600200" y="65836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교육 신청 폼 + 정원 집계 화면</a:t>
            </a:r>
            <a:endParaRPr lang="en-US" sz="3000" dirty="0"/>
          </a:p>
        </p:txBody>
      </p:sp>
      <p:sp>
        <p:nvSpPr>
          <p:cNvPr id="8" name="의도 라벨"/>
          <p:cNvSpPr txBox="1"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의도</a:t>
            </a:r>
            <a:endParaRPr lang="en-US" sz="1200" dirty="0"/>
          </a:p>
        </p:txBody>
      </p:sp>
      <p:sp>
        <p:nvSpPr>
          <p:cNvPr id="9" name="의도"/>
          <p:cNvSpPr txBox="1"/>
          <p:nvPr/>
        </p:nvSpPr>
        <p:spPr>
          <a:xfrm>
            <a:off x="54864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신청받고 → 엑셀에 옮기고 → 인원 세는 3단계를 한 페이지로 합친다.</a:t>
            </a:r>
            <a:endParaRPr lang="en-US" sz="1600" dirty="0"/>
          </a:p>
        </p:txBody>
      </p:sp>
      <p:sp>
        <p:nvSpPr>
          <p:cNvPr id="10" name="노하우 카드"/>
          <p:cNvSpPr/>
          <p:nvPr/>
        </p:nvSpPr>
        <p:spPr>
          <a:xfrm>
            <a:off x="548640" y="3611880"/>
            <a:ext cx="457200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노하우 라벨"/>
          <p:cNvSpPr txBox="1"/>
          <p:nvPr/>
        </p:nvSpPr>
        <p:spPr>
          <a:xfrm>
            <a:off x="7772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노하우</a:t>
            </a:r>
            <a:endParaRPr lang="en-US" sz="1200" dirty="0"/>
          </a:p>
        </p:txBody>
      </p:sp>
      <p:sp>
        <p:nvSpPr>
          <p:cNvPr id="12" name="노하우"/>
          <p:cNvSpPr txBox="1"/>
          <p:nvPr/>
        </p:nvSpPr>
        <p:spPr>
          <a:xfrm>
            <a:off x="777240" y="406908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입력 화면과 집계 화면을 한 파일에 두라고 하면 공유가 쉽습니다. 공유 저장은 2단계로 나눠 요청하세요.</a:t>
            </a:r>
            <a:endParaRPr lang="en-US" sz="1400" dirty="0"/>
          </a:p>
        </p:txBody>
      </p:sp>
      <p:sp>
        <p:nvSpPr>
          <p:cNvPr id="13" name="스크립트 카드"/>
          <p:cNvSpPr/>
          <p:nvPr/>
        </p:nvSpPr>
        <p:spPr>
          <a:xfrm>
            <a:off x="5440680" y="1737360"/>
            <a:ext cx="6199632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스크립트 라벨"/>
          <p:cNvSpPr txBox="1"/>
          <p:nvPr/>
        </p:nvSpPr>
        <p:spPr>
          <a:xfrm>
            <a:off x="5715000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AI에게 이렇게 시키세요</a:t>
            </a:r>
            <a:endParaRPr lang="en-US" sz="1200" dirty="0"/>
          </a:p>
        </p:txBody>
      </p:sp>
      <p:sp>
        <p:nvSpPr>
          <p:cNvPr id="15" name="스크립트"/>
          <p:cNvSpPr txBox="1"/>
          <p:nvPr/>
        </p:nvSpPr>
        <p:spPr>
          <a:xfrm>
            <a:off x="5715000" y="2286000"/>
            <a:ext cx="5669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교육 신청 폼(이름, 부서, 희망 일정 3택1)과 신청 현황 집계 화면을 한 페이지로 만들어줘.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일정별 인원을 막대그래프로 보여주고, 정원 20명이 넘으면 빨간색으로 표시해줘.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일단은 한 컴퓨터 안에서만 저장되게 하고, 나중에 구글 시트에 연결하는 방법도 알려줘.</a:t>
            </a:r>
            <a:endParaRPr lang="en-US" sz="1500" dirty="0"/>
          </a:p>
        </p:txBody>
      </p:sp>
      <p:sp>
        <p:nvSpPr>
          <p:cNvPr id="16" name="사례08 용어 배경"/>
          <p:cNvSpPr/>
          <p:nvPr/>
        </p:nvSpPr>
        <p:spPr>
          <a:xfrm>
            <a:off x="548640" y="5943600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사례08 용어"/>
          <p:cNvSpPr txBox="1"/>
          <p:nvPr/>
        </p:nvSpPr>
        <p:spPr>
          <a:xfrm>
            <a:off x="731520" y="5961888"/>
            <a:ext cx="1072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※ 용어 참고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대시보드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핵심 숫자·그래프를 한 화면에 모아 보여주는 현황판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연동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서로 다른 서비스(예: 폼과 구글 시트)를 연결하는 것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테마칩"/>
          <p:cNvSpPr/>
          <p:nvPr/>
        </p:nvSpPr>
        <p:spPr>
          <a:xfrm>
            <a:off x="1600200" y="329184"/>
            <a:ext cx="214884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테마칩 글자"/>
          <p:cNvSpPr txBox="1"/>
          <p:nvPr/>
        </p:nvSpPr>
        <p:spPr>
          <a:xfrm>
            <a:off x="1600200" y="32918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 · 사내 미니앱</a:t>
            </a:r>
            <a:endParaRPr lang="en-US" sz="1200" dirty="0"/>
          </a:p>
        </p:txBody>
      </p:sp>
      <p:sp>
        <p:nvSpPr>
          <p:cNvPr id="4" name="진행 번호"/>
          <p:cNvSpPr txBox="1"/>
          <p:nvPr/>
        </p:nvSpPr>
        <p:spPr>
          <a:xfrm>
            <a:off x="9811512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09 / 35</a:t>
            </a:r>
            <a:endParaRPr lang="en-US" sz="1200" dirty="0"/>
          </a:p>
        </p:txBody>
      </p:sp>
      <p:sp>
        <p:nvSpPr>
          <p:cNvPr id="5" name="번호원"/>
          <p:cNvSpPr/>
          <p:nvPr/>
        </p:nvSpPr>
        <p:spPr>
          <a:xfrm>
            <a:off x="548640" y="658368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번호"/>
          <p:cNvSpPr txBox="1"/>
          <p:nvPr/>
        </p:nvSpPr>
        <p:spPr>
          <a:xfrm>
            <a:off x="548640" y="6583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09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1600200" y="65836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신입 온보딩 체크리스트 앱</a:t>
            </a:r>
            <a:endParaRPr lang="en-US" sz="3000" dirty="0"/>
          </a:p>
        </p:txBody>
      </p:sp>
      <p:sp>
        <p:nvSpPr>
          <p:cNvPr id="8" name="의도 라벨"/>
          <p:cNvSpPr txBox="1"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의도</a:t>
            </a:r>
            <a:endParaRPr lang="en-US" sz="1200" dirty="0"/>
          </a:p>
        </p:txBody>
      </p:sp>
      <p:sp>
        <p:nvSpPr>
          <p:cNvPr id="9" name="의도"/>
          <p:cNvSpPr txBox="1"/>
          <p:nvPr/>
        </p:nvSpPr>
        <p:spPr>
          <a:xfrm>
            <a:off x="54864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신입이 첫 2주 동안 할 일을 스스로 체크하며 진행률을 보게 해서 같은 질문 응대를 줄인다.</a:t>
            </a:r>
            <a:endParaRPr lang="en-US" sz="1600" dirty="0"/>
          </a:p>
        </p:txBody>
      </p:sp>
      <p:sp>
        <p:nvSpPr>
          <p:cNvPr id="10" name="노하우 카드"/>
          <p:cNvSpPr/>
          <p:nvPr/>
        </p:nvSpPr>
        <p:spPr>
          <a:xfrm>
            <a:off x="548640" y="3611880"/>
            <a:ext cx="457200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노하우 라벨"/>
          <p:cNvSpPr txBox="1"/>
          <p:nvPr/>
        </p:nvSpPr>
        <p:spPr>
          <a:xfrm>
            <a:off x="7772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노하우</a:t>
            </a:r>
            <a:endParaRPr lang="en-US" sz="1200" dirty="0"/>
          </a:p>
        </p:txBody>
      </p:sp>
      <p:sp>
        <p:nvSpPr>
          <p:cNvPr id="12" name="노하우"/>
          <p:cNvSpPr txBox="1"/>
          <p:nvPr/>
        </p:nvSpPr>
        <p:spPr>
          <a:xfrm>
            <a:off x="777240" y="406908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'항목은 맨 위 목록만 고치면 화면이 바뀌게'라고 요청하세요. 내용과 화면을 분리하면 팀 다른 업무에도 복사해 씁니다.</a:t>
            </a:r>
            <a:endParaRPr lang="en-US" sz="1400" dirty="0"/>
          </a:p>
        </p:txBody>
      </p:sp>
      <p:sp>
        <p:nvSpPr>
          <p:cNvPr id="13" name="스크립트 카드"/>
          <p:cNvSpPr/>
          <p:nvPr/>
        </p:nvSpPr>
        <p:spPr>
          <a:xfrm>
            <a:off x="5440680" y="1737360"/>
            <a:ext cx="6199632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스크립트 라벨"/>
          <p:cNvSpPr txBox="1"/>
          <p:nvPr/>
        </p:nvSpPr>
        <p:spPr>
          <a:xfrm>
            <a:off x="5715000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AI에게 이렇게 시키세요</a:t>
            </a:r>
            <a:endParaRPr lang="en-US" sz="1200" dirty="0"/>
          </a:p>
        </p:txBody>
      </p:sp>
      <p:sp>
        <p:nvSpPr>
          <p:cNvPr id="15" name="스크립트"/>
          <p:cNvSpPr txBox="1"/>
          <p:nvPr/>
        </p:nvSpPr>
        <p:spPr>
          <a:xfrm>
            <a:off x="5715000" y="2286000"/>
            <a:ext cx="5669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신입사원 첫 2주 체크리스트(계정 발급, 보안교육, 팀 소개 등 15개)를 날짜별로 보여주는 웹페이지를 만들어줘.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항목을 체크하면 진행률 %가 올라가는 바를 보여줘.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체크리스트 항목은 코드 맨 위 목록만 고치면 바뀌게 해줘.</a:t>
            </a:r>
            <a:endParaRPr lang="en-US" sz="1500" dirty="0"/>
          </a:p>
        </p:txBody>
      </p:sp>
      <p:sp>
        <p:nvSpPr>
          <p:cNvPr id="16" name="사례09 용어 배경"/>
          <p:cNvSpPr/>
          <p:nvPr/>
        </p:nvSpPr>
        <p:spPr>
          <a:xfrm>
            <a:off x="548640" y="5943600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사례09 용어"/>
          <p:cNvSpPr txBox="1"/>
          <p:nvPr/>
        </p:nvSpPr>
        <p:spPr>
          <a:xfrm>
            <a:off x="731520" y="5961888"/>
            <a:ext cx="1072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※ 용어 참고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진행률 바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완료 비율을 막대로 채워 보여주는 표시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데이터와 화면 분리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내용(목록)과 모양(디자인)을 따로 둬서 수정을 쉽게 하는 방식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테마칩"/>
          <p:cNvSpPr/>
          <p:nvPr/>
        </p:nvSpPr>
        <p:spPr>
          <a:xfrm>
            <a:off x="1600200" y="329184"/>
            <a:ext cx="214884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테마칩 글자"/>
          <p:cNvSpPr txBox="1"/>
          <p:nvPr/>
        </p:nvSpPr>
        <p:spPr>
          <a:xfrm>
            <a:off x="1600200" y="32918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 · 사내 미니앱</a:t>
            </a:r>
            <a:endParaRPr lang="en-US" sz="1200" dirty="0"/>
          </a:p>
        </p:txBody>
      </p:sp>
      <p:sp>
        <p:nvSpPr>
          <p:cNvPr id="4" name="진행 번호"/>
          <p:cNvSpPr txBox="1"/>
          <p:nvPr/>
        </p:nvSpPr>
        <p:spPr>
          <a:xfrm>
            <a:off x="9811512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10 / 35</a:t>
            </a:r>
            <a:endParaRPr lang="en-US" sz="1200" dirty="0"/>
          </a:p>
        </p:txBody>
      </p:sp>
      <p:sp>
        <p:nvSpPr>
          <p:cNvPr id="5" name="번호원"/>
          <p:cNvSpPr/>
          <p:nvPr/>
        </p:nvSpPr>
        <p:spPr>
          <a:xfrm>
            <a:off x="548640" y="658368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번호"/>
          <p:cNvSpPr txBox="1"/>
          <p:nvPr/>
        </p:nvSpPr>
        <p:spPr>
          <a:xfrm>
            <a:off x="548640" y="6583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10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1600200" y="65836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자리 배치도·좌석 시각화</a:t>
            </a:r>
            <a:endParaRPr lang="en-US" sz="3000" dirty="0"/>
          </a:p>
        </p:txBody>
      </p:sp>
      <p:sp>
        <p:nvSpPr>
          <p:cNvPr id="8" name="의도 라벨"/>
          <p:cNvSpPr txBox="1"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의도</a:t>
            </a:r>
            <a:endParaRPr lang="en-US" sz="1200" dirty="0"/>
          </a:p>
        </p:txBody>
      </p:sp>
      <p:sp>
        <p:nvSpPr>
          <p:cNvPr id="9" name="의도"/>
          <p:cNvSpPr txBox="1"/>
          <p:nvPr/>
        </p:nvSpPr>
        <p:spPr>
          <a:xfrm>
            <a:off x="54864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엑셀 표로 관리하던 자리 배치를 마우스로 옮기며 바꿔보는 그림으로 바꾼다.</a:t>
            </a:r>
            <a:endParaRPr lang="en-US" sz="1600" dirty="0"/>
          </a:p>
        </p:txBody>
      </p:sp>
      <p:sp>
        <p:nvSpPr>
          <p:cNvPr id="10" name="노하우 카드"/>
          <p:cNvSpPr/>
          <p:nvPr/>
        </p:nvSpPr>
        <p:spPr>
          <a:xfrm>
            <a:off x="548640" y="3611880"/>
            <a:ext cx="457200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노하우 라벨"/>
          <p:cNvSpPr txBox="1"/>
          <p:nvPr/>
        </p:nvSpPr>
        <p:spPr>
          <a:xfrm>
            <a:off x="7772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노하우</a:t>
            </a:r>
            <a:endParaRPr lang="en-US" sz="1200" dirty="0"/>
          </a:p>
        </p:txBody>
      </p:sp>
      <p:sp>
        <p:nvSpPr>
          <p:cNvPr id="12" name="노하우"/>
          <p:cNvSpPr txBox="1"/>
          <p:nvPr/>
        </p:nvSpPr>
        <p:spPr>
          <a:xfrm>
            <a:off x="777240" y="406908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원하는 모양을 숫자로 구체화하세요('6x8 격자', '층별 탭'). 막연한 '예쁘게'보다 숫자와 개수가 훨씬 잘 먹힙니다.</a:t>
            </a:r>
            <a:endParaRPr lang="en-US" sz="1400" dirty="0"/>
          </a:p>
        </p:txBody>
      </p:sp>
      <p:sp>
        <p:nvSpPr>
          <p:cNvPr id="13" name="스크립트 카드"/>
          <p:cNvSpPr/>
          <p:nvPr/>
        </p:nvSpPr>
        <p:spPr>
          <a:xfrm>
            <a:off x="5440680" y="1737360"/>
            <a:ext cx="6199632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스크립트 라벨"/>
          <p:cNvSpPr txBox="1"/>
          <p:nvPr/>
        </p:nvSpPr>
        <p:spPr>
          <a:xfrm>
            <a:off x="5715000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AI에게 이렇게 시키세요</a:t>
            </a:r>
            <a:endParaRPr lang="en-US" sz="1200" dirty="0"/>
          </a:p>
        </p:txBody>
      </p:sp>
      <p:sp>
        <p:nvSpPr>
          <p:cNvPr id="15" name="스크립트"/>
          <p:cNvSpPr txBox="1"/>
          <p:nvPr/>
        </p:nvSpPr>
        <p:spPr>
          <a:xfrm>
            <a:off x="5715000" y="2286000"/>
            <a:ext cx="5669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사무실 도면을 6x8 격자로 그리고, 자리마다 이름표를 마우스로 끌어서 옮길 수 있는 웹페이지를 만들어줘.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층별 탭, 빈자리 표시, 현재 배치를 이미지로 저장하는 버튼을 넣어줘.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이름 목록은 코드 맨 위에서 수정할 수 있게 해줘.</a:t>
            </a:r>
            <a:endParaRPr lang="en-US" sz="1500" dirty="0"/>
          </a:p>
        </p:txBody>
      </p:sp>
      <p:sp>
        <p:nvSpPr>
          <p:cNvPr id="16" name="사례10 용어 배경"/>
          <p:cNvSpPr/>
          <p:nvPr/>
        </p:nvSpPr>
        <p:spPr>
          <a:xfrm>
            <a:off x="548640" y="5943600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사례10 용어"/>
          <p:cNvSpPr txBox="1"/>
          <p:nvPr/>
        </p:nvSpPr>
        <p:spPr>
          <a:xfrm>
            <a:off x="731520" y="5961888"/>
            <a:ext cx="1072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※ 용어 참고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격자(그리드)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가로세로 칸으로 나눈 판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드래그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마우스 버튼을 누른 채 끌어서 옮기는 동작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구분 아이콘 원"/>
          <p:cNvSpPr/>
          <p:nvPr/>
        </p:nvSpPr>
        <p:spPr>
          <a:xfrm>
            <a:off x="822960" y="1371600"/>
            <a:ext cx="1554480" cy="1554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" name="Image 0" descr="데이터·분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828800"/>
            <a:ext cx="640080" cy="640080"/>
          </a:xfrm>
          <a:prstGeom prst="rect">
            <a:avLst/>
          </a:prstGeom>
        </p:spPr>
      </p:pic>
      <p:sp>
        <p:nvSpPr>
          <p:cNvPr id="4" name="구분 라벨"/>
          <p:cNvSpPr txBox="1"/>
          <p:nvPr/>
        </p:nvSpPr>
        <p:spPr>
          <a:xfrm>
            <a:off x="822960" y="2926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THEME C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32461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데이터·분석</a:t>
            </a:r>
            <a:endParaRPr lang="en-US" sz="4000" dirty="0"/>
          </a:p>
        </p:txBody>
      </p:sp>
      <p:sp>
        <p:nvSpPr>
          <p:cNvPr id="6" name="구분 설명"/>
          <p:cNvSpPr txBox="1"/>
          <p:nvPr/>
        </p:nvSpPr>
        <p:spPr>
          <a:xfrm>
            <a:off x="822960" y="42519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숫자와 의견을 모아 한눈에 보이게 만들기</a:t>
            </a:r>
            <a:endParaRPr lang="en-US" sz="1800" dirty="0"/>
          </a:p>
        </p:txBody>
      </p:sp>
      <p:sp>
        <p:nvSpPr>
          <p:cNvPr id="7" name="구분 목록 카드"/>
          <p:cNvSpPr/>
          <p:nvPr/>
        </p:nvSpPr>
        <p:spPr>
          <a:xfrm>
            <a:off x="6492240" y="1097280"/>
            <a:ext cx="5148072" cy="466344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구분 번호원 11"/>
          <p:cNvSpPr/>
          <p:nvPr/>
        </p:nvSpPr>
        <p:spPr>
          <a:xfrm>
            <a:off x="6812280" y="14173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구분 번호 11"/>
          <p:cNvSpPr txBox="1"/>
          <p:nvPr/>
        </p:nvSpPr>
        <p:spPr>
          <a:xfrm>
            <a:off x="68122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11</a:t>
            </a:r>
            <a:endParaRPr lang="en-US" sz="1400" dirty="0"/>
          </a:p>
        </p:txBody>
      </p:sp>
      <p:sp>
        <p:nvSpPr>
          <p:cNvPr id="10" name="구분 사례명 11"/>
          <p:cNvSpPr txBox="1"/>
          <p:nvPr/>
        </p:nvSpPr>
        <p:spPr>
          <a:xfrm>
            <a:off x="7589520" y="141732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매출 대시보드 한 화면에 모으기</a:t>
            </a:r>
            <a:endParaRPr lang="en-US" sz="1600" dirty="0"/>
          </a:p>
        </p:txBody>
      </p:sp>
      <p:sp>
        <p:nvSpPr>
          <p:cNvPr id="11" name="구분 번호원 12"/>
          <p:cNvSpPr/>
          <p:nvPr/>
        </p:nvSpPr>
        <p:spPr>
          <a:xfrm>
            <a:off x="6812280" y="22860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구분 번호 12"/>
          <p:cNvSpPr txBox="1"/>
          <p:nvPr/>
        </p:nvSpPr>
        <p:spPr>
          <a:xfrm>
            <a:off x="68122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12</a:t>
            </a:r>
            <a:endParaRPr lang="en-US" sz="1400" dirty="0"/>
          </a:p>
        </p:txBody>
      </p:sp>
      <p:sp>
        <p:nvSpPr>
          <p:cNvPr id="13" name="구분 사례명 12"/>
          <p:cNvSpPr txBox="1"/>
          <p:nvPr/>
        </p:nvSpPr>
        <p:spPr>
          <a:xfrm>
            <a:off x="7589520" y="228600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고객 의견(VOC) 자동 분류·요약</a:t>
            </a:r>
            <a:endParaRPr lang="en-US" sz="1600" dirty="0"/>
          </a:p>
        </p:txBody>
      </p:sp>
      <p:sp>
        <p:nvSpPr>
          <p:cNvPr id="14" name="구분 번호원 13"/>
          <p:cNvSpPr/>
          <p:nvPr/>
        </p:nvSpPr>
        <p:spPr>
          <a:xfrm>
            <a:off x="6812280" y="31546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구분 번호 13"/>
          <p:cNvSpPr txBox="1"/>
          <p:nvPr/>
        </p:nvSpPr>
        <p:spPr>
          <a:xfrm>
            <a:off x="681228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13</a:t>
            </a:r>
            <a:endParaRPr lang="en-US" sz="1400" dirty="0"/>
          </a:p>
        </p:txBody>
      </p:sp>
      <p:sp>
        <p:nvSpPr>
          <p:cNvPr id="16" name="구분 사례명 13"/>
          <p:cNvSpPr txBox="1"/>
          <p:nvPr/>
        </p:nvSpPr>
        <p:spPr>
          <a:xfrm>
            <a:off x="7589520" y="315468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경쟁사 가격 변동 알림</a:t>
            </a:r>
            <a:endParaRPr lang="en-US" sz="1600" dirty="0"/>
          </a:p>
        </p:txBody>
      </p:sp>
      <p:sp>
        <p:nvSpPr>
          <p:cNvPr id="17" name="구분 번호원 14"/>
          <p:cNvSpPr/>
          <p:nvPr/>
        </p:nvSpPr>
        <p:spPr>
          <a:xfrm>
            <a:off x="6812280" y="40233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구분 번호 14"/>
          <p:cNvSpPr txBox="1"/>
          <p:nvPr/>
        </p:nvSpPr>
        <p:spPr>
          <a:xfrm>
            <a:off x="681228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14</a:t>
            </a:r>
            <a:endParaRPr lang="en-US" sz="1400" dirty="0"/>
          </a:p>
        </p:txBody>
      </p:sp>
      <p:sp>
        <p:nvSpPr>
          <p:cNvPr id="19" name="구분 사례명 14"/>
          <p:cNvSpPr txBox="1"/>
          <p:nvPr/>
        </p:nvSpPr>
        <p:spPr>
          <a:xfrm>
            <a:off x="7589520" y="402336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설문 결과 자동 리포트</a:t>
            </a:r>
            <a:endParaRPr lang="en-US" sz="1600" dirty="0"/>
          </a:p>
        </p:txBody>
      </p:sp>
      <p:sp>
        <p:nvSpPr>
          <p:cNvPr id="20" name="구분 번호원 15"/>
          <p:cNvSpPr/>
          <p:nvPr/>
        </p:nvSpPr>
        <p:spPr>
          <a:xfrm>
            <a:off x="6812280" y="48920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구분 번호 15"/>
          <p:cNvSpPr txBox="1"/>
          <p:nvPr/>
        </p:nvSpPr>
        <p:spPr>
          <a:xfrm>
            <a:off x="681228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15</a:t>
            </a:r>
            <a:endParaRPr lang="en-US" sz="1400" dirty="0"/>
          </a:p>
        </p:txBody>
      </p:sp>
      <p:sp>
        <p:nvSpPr>
          <p:cNvPr id="22" name="구분 사례명 15"/>
          <p:cNvSpPr txBox="1"/>
          <p:nvPr/>
        </p:nvSpPr>
        <p:spPr>
          <a:xfrm>
            <a:off x="7589520" y="489204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엑셀 오류·이상치 검수기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테마칩"/>
          <p:cNvSpPr/>
          <p:nvPr/>
        </p:nvSpPr>
        <p:spPr>
          <a:xfrm>
            <a:off x="1600200" y="329184"/>
            <a:ext cx="2148840" cy="29260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테마칩 글자"/>
          <p:cNvSpPr txBox="1"/>
          <p:nvPr/>
        </p:nvSpPr>
        <p:spPr>
          <a:xfrm>
            <a:off x="1600200" y="32918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 · 데이터·분석</a:t>
            </a:r>
            <a:endParaRPr lang="en-US" sz="1200" dirty="0"/>
          </a:p>
        </p:txBody>
      </p:sp>
      <p:sp>
        <p:nvSpPr>
          <p:cNvPr id="4" name="진행 번호"/>
          <p:cNvSpPr txBox="1"/>
          <p:nvPr/>
        </p:nvSpPr>
        <p:spPr>
          <a:xfrm>
            <a:off x="9811512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11 / 35</a:t>
            </a:r>
            <a:endParaRPr lang="en-US" sz="1200" dirty="0"/>
          </a:p>
        </p:txBody>
      </p:sp>
      <p:sp>
        <p:nvSpPr>
          <p:cNvPr id="5" name="번호원"/>
          <p:cNvSpPr/>
          <p:nvPr/>
        </p:nvSpPr>
        <p:spPr>
          <a:xfrm>
            <a:off x="548640" y="658368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번호"/>
          <p:cNvSpPr txBox="1"/>
          <p:nvPr/>
        </p:nvSpPr>
        <p:spPr>
          <a:xfrm>
            <a:off x="548640" y="6583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11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1600200" y="65836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매출 대시보드 한 화면에 모으기</a:t>
            </a:r>
            <a:endParaRPr lang="en-US" sz="3000" dirty="0"/>
          </a:p>
        </p:txBody>
      </p:sp>
      <p:sp>
        <p:nvSpPr>
          <p:cNvPr id="8" name="의도 라벨"/>
          <p:cNvSpPr txBox="1"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의도</a:t>
            </a:r>
            <a:endParaRPr lang="en-US" sz="1200" dirty="0"/>
          </a:p>
        </p:txBody>
      </p:sp>
      <p:sp>
        <p:nvSpPr>
          <p:cNvPr id="9" name="의도"/>
          <p:cNvSpPr txBox="1"/>
          <p:nvPr/>
        </p:nvSpPr>
        <p:spPr>
          <a:xfrm>
            <a:off x="54864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월별 매출 파일을 열 때마다 피벗 만들던 일을 필터 달린 현황판 하나로 대체한다.</a:t>
            </a:r>
            <a:endParaRPr lang="en-US" sz="1600" dirty="0"/>
          </a:p>
        </p:txBody>
      </p:sp>
      <p:sp>
        <p:nvSpPr>
          <p:cNvPr id="10" name="노하우 카드"/>
          <p:cNvSpPr/>
          <p:nvPr/>
        </p:nvSpPr>
        <p:spPr>
          <a:xfrm>
            <a:off x="548640" y="3611880"/>
            <a:ext cx="457200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노하우 라벨"/>
          <p:cNvSpPr txBox="1"/>
          <p:nvPr/>
        </p:nvSpPr>
        <p:spPr>
          <a:xfrm>
            <a:off x="7772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노하우</a:t>
            </a:r>
            <a:endParaRPr lang="en-US" sz="1200" dirty="0"/>
          </a:p>
        </p:txBody>
      </p:sp>
      <p:sp>
        <p:nvSpPr>
          <p:cNvPr id="12" name="노하우"/>
          <p:cNvSpPr txBox="1"/>
          <p:nvPr/>
        </p:nvSpPr>
        <p:spPr>
          <a:xfrm>
            <a:off x="777240" y="406908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회사 실제 데이터는 숫자 일부를 바꾼 샘플로 먼저 만들어보고, 완성된 도구에 진짜 데이터를 넣으세요.</a:t>
            </a:r>
            <a:endParaRPr lang="en-US" sz="1400" dirty="0"/>
          </a:p>
        </p:txBody>
      </p:sp>
      <p:sp>
        <p:nvSpPr>
          <p:cNvPr id="13" name="스크립트 카드"/>
          <p:cNvSpPr/>
          <p:nvPr/>
        </p:nvSpPr>
        <p:spPr>
          <a:xfrm>
            <a:off x="5440680" y="1737360"/>
            <a:ext cx="6199632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스크립트 라벨"/>
          <p:cNvSpPr txBox="1"/>
          <p:nvPr/>
        </p:nvSpPr>
        <p:spPr>
          <a:xfrm>
            <a:off x="5715000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AI에게 이렇게 시키세요</a:t>
            </a:r>
            <a:endParaRPr lang="en-US" sz="1200" dirty="0"/>
          </a:p>
        </p:txBody>
      </p:sp>
      <p:sp>
        <p:nvSpPr>
          <p:cNvPr id="15" name="스크립트"/>
          <p:cNvSpPr txBox="1"/>
          <p:nvPr/>
        </p:nvSpPr>
        <p:spPr>
          <a:xfrm>
            <a:off x="5715000" y="2286000"/>
            <a:ext cx="5669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첨부한 월별 매출 CSV로 ①월별 추이 선그래프 ②지점별 비교 막대그래프 ③전월 대비 증감률 상위 5개 표를 한 화면에 보여주는 HTML 파일을 만들어줘.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기간·지점 필터를 넣고, 숫자는 천 단위 콤마로 표시해줘.</a:t>
            </a:r>
            <a:endParaRPr lang="en-US" sz="1500" dirty="0"/>
          </a:p>
        </p:txBody>
      </p:sp>
      <p:sp>
        <p:nvSpPr>
          <p:cNvPr id="16" name="사례11 용어 배경"/>
          <p:cNvSpPr/>
          <p:nvPr/>
        </p:nvSpPr>
        <p:spPr>
          <a:xfrm>
            <a:off x="548640" y="5943600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사례11 용어"/>
          <p:cNvSpPr txBox="1"/>
          <p:nvPr/>
        </p:nvSpPr>
        <p:spPr>
          <a:xfrm>
            <a:off x="731520" y="5961888"/>
            <a:ext cx="1072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※ 용어 참고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피벗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엑셀에서 데이터를 항목별로 집계하는 기능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HTML 파일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더블클릭하면 브라우저에서 열리는 웹페이지 파일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증감률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전월 대비 늘거나 준 비율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테마칩"/>
          <p:cNvSpPr/>
          <p:nvPr/>
        </p:nvSpPr>
        <p:spPr>
          <a:xfrm>
            <a:off x="1600200" y="329184"/>
            <a:ext cx="2148840" cy="29260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테마칩 글자"/>
          <p:cNvSpPr txBox="1"/>
          <p:nvPr/>
        </p:nvSpPr>
        <p:spPr>
          <a:xfrm>
            <a:off x="1600200" y="32918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 · 데이터·분석</a:t>
            </a:r>
            <a:endParaRPr lang="en-US" sz="1200" dirty="0"/>
          </a:p>
        </p:txBody>
      </p:sp>
      <p:sp>
        <p:nvSpPr>
          <p:cNvPr id="4" name="진행 번호"/>
          <p:cNvSpPr txBox="1"/>
          <p:nvPr/>
        </p:nvSpPr>
        <p:spPr>
          <a:xfrm>
            <a:off x="9811512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12 / 35</a:t>
            </a:r>
            <a:endParaRPr lang="en-US" sz="1200" dirty="0"/>
          </a:p>
        </p:txBody>
      </p:sp>
      <p:sp>
        <p:nvSpPr>
          <p:cNvPr id="5" name="번호원"/>
          <p:cNvSpPr/>
          <p:nvPr/>
        </p:nvSpPr>
        <p:spPr>
          <a:xfrm>
            <a:off x="548640" y="658368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번호"/>
          <p:cNvSpPr txBox="1"/>
          <p:nvPr/>
        </p:nvSpPr>
        <p:spPr>
          <a:xfrm>
            <a:off x="548640" y="6583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12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1600200" y="65836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고객 의견(VOC) 자동 분류·요약</a:t>
            </a:r>
            <a:endParaRPr lang="en-US" sz="3000" dirty="0"/>
          </a:p>
        </p:txBody>
      </p:sp>
      <p:sp>
        <p:nvSpPr>
          <p:cNvPr id="8" name="의도 라벨"/>
          <p:cNvSpPr txBox="1"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의도</a:t>
            </a:r>
            <a:endParaRPr lang="en-US" sz="1200" dirty="0"/>
          </a:p>
        </p:txBody>
      </p:sp>
      <p:sp>
        <p:nvSpPr>
          <p:cNvPr id="9" name="의도"/>
          <p:cNvSpPr txBox="1"/>
          <p:nvPr/>
        </p:nvSpPr>
        <p:spPr>
          <a:xfrm>
            <a:off x="54864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수백 건의 불만·요청을 사람이 읽고 분류하던 일을 유형별 건수와 대표 의견으로 요약한다.</a:t>
            </a:r>
            <a:endParaRPr lang="en-US" sz="1600" dirty="0"/>
          </a:p>
        </p:txBody>
      </p:sp>
      <p:sp>
        <p:nvSpPr>
          <p:cNvPr id="10" name="노하우 카드"/>
          <p:cNvSpPr/>
          <p:nvPr/>
        </p:nvSpPr>
        <p:spPr>
          <a:xfrm>
            <a:off x="548640" y="3611880"/>
            <a:ext cx="457200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노하우 라벨"/>
          <p:cNvSpPr txBox="1"/>
          <p:nvPr/>
        </p:nvSpPr>
        <p:spPr>
          <a:xfrm>
            <a:off x="7772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노하우</a:t>
            </a:r>
            <a:endParaRPr lang="en-US" sz="1200" dirty="0"/>
          </a:p>
        </p:txBody>
      </p:sp>
      <p:sp>
        <p:nvSpPr>
          <p:cNvPr id="12" name="노하우"/>
          <p:cNvSpPr txBox="1"/>
          <p:nvPr/>
        </p:nvSpPr>
        <p:spPr>
          <a:xfrm>
            <a:off x="777240" y="406908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분류 기준(카테고리)은 직접 정해서 알려주세요. '애매하면 검토필요로' 규칙이 있으면 믿고 쓸 수 있는 결과가 나옵니다.</a:t>
            </a:r>
            <a:endParaRPr lang="en-US" sz="1400" dirty="0"/>
          </a:p>
        </p:txBody>
      </p:sp>
      <p:sp>
        <p:nvSpPr>
          <p:cNvPr id="13" name="스크립트 카드"/>
          <p:cNvSpPr/>
          <p:nvPr/>
        </p:nvSpPr>
        <p:spPr>
          <a:xfrm>
            <a:off x="5440680" y="1737360"/>
            <a:ext cx="6199632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스크립트 라벨"/>
          <p:cNvSpPr txBox="1"/>
          <p:nvPr/>
        </p:nvSpPr>
        <p:spPr>
          <a:xfrm>
            <a:off x="5715000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AI에게 이렇게 시키세요</a:t>
            </a:r>
            <a:endParaRPr lang="en-US" sz="1200" dirty="0"/>
          </a:p>
        </p:txBody>
      </p:sp>
      <p:sp>
        <p:nvSpPr>
          <p:cNvPr id="15" name="스크립트"/>
          <p:cNvSpPr txBox="1"/>
          <p:nvPr/>
        </p:nvSpPr>
        <p:spPr>
          <a:xfrm>
            <a:off x="5715000" y="2286000"/>
            <a:ext cx="5669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고객 의견 200건(엑셀 한 열)을 읽어서 '배송/품질/응대/가격/기타'로 분류해줘.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분류별 건수, 대표 의견 3개, 개선 제안 1줄을 표로 정리해줘.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분류가 애매한 건 억지로 넣지 말고 '검토필요'로 남겨줘.</a:t>
            </a:r>
            <a:endParaRPr lang="en-US" sz="1500" dirty="0"/>
          </a:p>
        </p:txBody>
      </p:sp>
      <p:sp>
        <p:nvSpPr>
          <p:cNvPr id="16" name="사례12 용어 배경"/>
          <p:cNvSpPr/>
          <p:nvPr/>
        </p:nvSpPr>
        <p:spPr>
          <a:xfrm>
            <a:off x="548640" y="5943600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사례12 용어"/>
          <p:cNvSpPr txBox="1"/>
          <p:nvPr/>
        </p:nvSpPr>
        <p:spPr>
          <a:xfrm>
            <a:off x="731520" y="5961888"/>
            <a:ext cx="1072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※ 용어 참고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VOC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Voice of Customer, 고객의 소리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분류(카테고리화)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비슷한 의견끼리 묶어 이름표를 붙이는 일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테마칩"/>
          <p:cNvSpPr/>
          <p:nvPr/>
        </p:nvSpPr>
        <p:spPr>
          <a:xfrm>
            <a:off x="1600200" y="329184"/>
            <a:ext cx="2148840" cy="29260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테마칩 글자"/>
          <p:cNvSpPr txBox="1"/>
          <p:nvPr/>
        </p:nvSpPr>
        <p:spPr>
          <a:xfrm>
            <a:off x="1600200" y="32918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 · 데이터·분석</a:t>
            </a:r>
            <a:endParaRPr lang="en-US" sz="1200" dirty="0"/>
          </a:p>
        </p:txBody>
      </p:sp>
      <p:sp>
        <p:nvSpPr>
          <p:cNvPr id="4" name="진행 번호"/>
          <p:cNvSpPr txBox="1"/>
          <p:nvPr/>
        </p:nvSpPr>
        <p:spPr>
          <a:xfrm>
            <a:off x="9811512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13 / 35</a:t>
            </a:r>
            <a:endParaRPr lang="en-US" sz="1200" dirty="0"/>
          </a:p>
        </p:txBody>
      </p:sp>
      <p:sp>
        <p:nvSpPr>
          <p:cNvPr id="5" name="번호원"/>
          <p:cNvSpPr/>
          <p:nvPr/>
        </p:nvSpPr>
        <p:spPr>
          <a:xfrm>
            <a:off x="548640" y="658368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번호"/>
          <p:cNvSpPr txBox="1"/>
          <p:nvPr/>
        </p:nvSpPr>
        <p:spPr>
          <a:xfrm>
            <a:off x="548640" y="6583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13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1600200" y="65836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경쟁사 가격 변동 알림</a:t>
            </a:r>
            <a:endParaRPr lang="en-US" sz="3000" dirty="0"/>
          </a:p>
        </p:txBody>
      </p:sp>
      <p:sp>
        <p:nvSpPr>
          <p:cNvPr id="8" name="의도 라벨"/>
          <p:cNvSpPr txBox="1"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의도</a:t>
            </a:r>
            <a:endParaRPr lang="en-US" sz="1200" dirty="0"/>
          </a:p>
        </p:txBody>
      </p:sp>
      <p:sp>
        <p:nvSpPr>
          <p:cNvPr id="9" name="의도"/>
          <p:cNvSpPr txBox="1"/>
          <p:nvPr/>
        </p:nvSpPr>
        <p:spPr>
          <a:xfrm>
            <a:off x="54864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매일 경쟁사 사이트를 눈으로 확인하는 대신, 가격이 바뀔 때만 알려주게 한다.</a:t>
            </a:r>
            <a:endParaRPr lang="en-US" sz="1600" dirty="0"/>
          </a:p>
        </p:txBody>
      </p:sp>
      <p:sp>
        <p:nvSpPr>
          <p:cNvPr id="10" name="노하우 카드"/>
          <p:cNvSpPr/>
          <p:nvPr/>
        </p:nvSpPr>
        <p:spPr>
          <a:xfrm>
            <a:off x="548640" y="3611880"/>
            <a:ext cx="457200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노하우 라벨"/>
          <p:cNvSpPr txBox="1"/>
          <p:nvPr/>
        </p:nvSpPr>
        <p:spPr>
          <a:xfrm>
            <a:off x="7772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노하우</a:t>
            </a:r>
            <a:endParaRPr lang="en-US" sz="1200" dirty="0"/>
          </a:p>
        </p:txBody>
      </p:sp>
      <p:sp>
        <p:nvSpPr>
          <p:cNvPr id="12" name="노하우"/>
          <p:cNvSpPr txBox="1"/>
          <p:nvPr/>
        </p:nvSpPr>
        <p:spPr>
          <a:xfrm>
            <a:off x="777240" y="406908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사이트 이용약관과 접근 허용 여부를 먼저 확인하세요. '막히면 우회하지 말고 알려줘'를 넣는 게 안전한 습관입니다.</a:t>
            </a:r>
            <a:endParaRPr lang="en-US" sz="1400" dirty="0"/>
          </a:p>
        </p:txBody>
      </p:sp>
      <p:sp>
        <p:nvSpPr>
          <p:cNvPr id="13" name="스크립트 카드"/>
          <p:cNvSpPr/>
          <p:nvPr/>
        </p:nvSpPr>
        <p:spPr>
          <a:xfrm>
            <a:off x="5440680" y="1737360"/>
            <a:ext cx="6199632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스크립트 라벨"/>
          <p:cNvSpPr txBox="1"/>
          <p:nvPr/>
        </p:nvSpPr>
        <p:spPr>
          <a:xfrm>
            <a:off x="5715000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AI에게 이렇게 시키세요</a:t>
            </a:r>
            <a:endParaRPr lang="en-US" sz="1200" dirty="0"/>
          </a:p>
        </p:txBody>
      </p:sp>
      <p:sp>
        <p:nvSpPr>
          <p:cNvPr id="15" name="스크립트"/>
          <p:cNvSpPr txBox="1"/>
          <p:nvPr/>
        </p:nvSpPr>
        <p:spPr>
          <a:xfrm>
            <a:off x="5715000" y="2286000"/>
            <a:ext cx="5669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내가 지정한 상품 페이지 5곳의 가격을 읽어서 어제와 달라진 것만 표로 알려주는 스크립트를 만들어줘.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사이트가 접근을 막으면 억지로 우회하지 말고 나에게 알려줘.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각 사이트의 이용약관 확인 방법도 안내해줘.</a:t>
            </a:r>
            <a:endParaRPr lang="en-US" sz="1500" dirty="0"/>
          </a:p>
        </p:txBody>
      </p:sp>
      <p:sp>
        <p:nvSpPr>
          <p:cNvPr id="16" name="사례13 용어 배경"/>
          <p:cNvSpPr/>
          <p:nvPr/>
        </p:nvSpPr>
        <p:spPr>
          <a:xfrm>
            <a:off x="548640" y="5943600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사례13 용어"/>
          <p:cNvSpPr txBox="1"/>
          <p:nvPr/>
        </p:nvSpPr>
        <p:spPr>
          <a:xfrm>
            <a:off x="731520" y="5961888"/>
            <a:ext cx="1072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※ 용어 참고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스크래핑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웹페이지의 정보를 프로그램으로 자동으로 가져오는 것(사이트 약관 확인 필수)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스크립트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한 가지 일을 시키는 짧은 프로그램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테마칩"/>
          <p:cNvSpPr/>
          <p:nvPr/>
        </p:nvSpPr>
        <p:spPr>
          <a:xfrm>
            <a:off x="1600200" y="329184"/>
            <a:ext cx="2148840" cy="29260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테마칩 글자"/>
          <p:cNvSpPr txBox="1"/>
          <p:nvPr/>
        </p:nvSpPr>
        <p:spPr>
          <a:xfrm>
            <a:off x="1600200" y="32918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 · 데이터·분석</a:t>
            </a:r>
            <a:endParaRPr lang="en-US" sz="1200" dirty="0"/>
          </a:p>
        </p:txBody>
      </p:sp>
      <p:sp>
        <p:nvSpPr>
          <p:cNvPr id="4" name="진행 번호"/>
          <p:cNvSpPr txBox="1"/>
          <p:nvPr/>
        </p:nvSpPr>
        <p:spPr>
          <a:xfrm>
            <a:off x="9811512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14 / 35</a:t>
            </a:r>
            <a:endParaRPr lang="en-US" sz="1200" dirty="0"/>
          </a:p>
        </p:txBody>
      </p:sp>
      <p:sp>
        <p:nvSpPr>
          <p:cNvPr id="5" name="번호원"/>
          <p:cNvSpPr/>
          <p:nvPr/>
        </p:nvSpPr>
        <p:spPr>
          <a:xfrm>
            <a:off x="548640" y="658368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번호"/>
          <p:cNvSpPr txBox="1"/>
          <p:nvPr/>
        </p:nvSpPr>
        <p:spPr>
          <a:xfrm>
            <a:off x="548640" y="6583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14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1600200" y="65836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설문 결과 자동 리포트</a:t>
            </a:r>
            <a:endParaRPr lang="en-US" sz="3000" dirty="0"/>
          </a:p>
        </p:txBody>
      </p:sp>
      <p:sp>
        <p:nvSpPr>
          <p:cNvPr id="8" name="의도 라벨"/>
          <p:cNvSpPr txBox="1"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의도</a:t>
            </a:r>
            <a:endParaRPr lang="en-US" sz="1200" dirty="0"/>
          </a:p>
        </p:txBody>
      </p:sp>
      <p:sp>
        <p:nvSpPr>
          <p:cNvPr id="9" name="의도"/>
          <p:cNvSpPr txBox="1"/>
          <p:nvPr/>
        </p:nvSpPr>
        <p:spPr>
          <a:xfrm>
            <a:off x="54864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설문 CSV 하나로 그래프와 의견 요약이 들어간 보고서를 자동으로 만든다.</a:t>
            </a:r>
            <a:endParaRPr lang="en-US" sz="1600" dirty="0"/>
          </a:p>
        </p:txBody>
      </p:sp>
      <p:sp>
        <p:nvSpPr>
          <p:cNvPr id="10" name="노하우 카드"/>
          <p:cNvSpPr/>
          <p:nvPr/>
        </p:nvSpPr>
        <p:spPr>
          <a:xfrm>
            <a:off x="548640" y="3611880"/>
            <a:ext cx="457200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노하우 라벨"/>
          <p:cNvSpPr txBox="1"/>
          <p:nvPr/>
        </p:nvSpPr>
        <p:spPr>
          <a:xfrm>
            <a:off x="7772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노하우</a:t>
            </a:r>
            <a:endParaRPr lang="en-US" sz="1200" dirty="0"/>
          </a:p>
        </p:txBody>
      </p:sp>
      <p:sp>
        <p:nvSpPr>
          <p:cNvPr id="12" name="노하우"/>
          <p:cNvSpPr txBox="1"/>
          <p:nvPr/>
        </p:nvSpPr>
        <p:spPr>
          <a:xfrm>
            <a:off x="777240" y="406908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'이름·이메일 열은 결과에서 제외'를 넣으면 보고서를 공유할 때 개인정보 사고를 줄일 수 있습니다.</a:t>
            </a:r>
            <a:endParaRPr lang="en-US" sz="1400" dirty="0"/>
          </a:p>
        </p:txBody>
      </p:sp>
      <p:sp>
        <p:nvSpPr>
          <p:cNvPr id="13" name="스크립트 카드"/>
          <p:cNvSpPr/>
          <p:nvPr/>
        </p:nvSpPr>
        <p:spPr>
          <a:xfrm>
            <a:off x="5440680" y="1737360"/>
            <a:ext cx="6199632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스크립트 라벨"/>
          <p:cNvSpPr txBox="1"/>
          <p:nvPr/>
        </p:nvSpPr>
        <p:spPr>
          <a:xfrm>
            <a:off x="5715000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AI에게 이렇게 시키세요</a:t>
            </a:r>
            <a:endParaRPr lang="en-US" sz="1200" dirty="0"/>
          </a:p>
        </p:txBody>
      </p:sp>
      <p:sp>
        <p:nvSpPr>
          <p:cNvPr id="15" name="스크립트"/>
          <p:cNvSpPr txBox="1"/>
          <p:nvPr/>
        </p:nvSpPr>
        <p:spPr>
          <a:xfrm>
            <a:off x="5715000" y="2286000"/>
            <a:ext cx="5669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구글폼 설문 결과 CSV를 읽어서, 객관식은 항목별 비율 그래프로 보여줘.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주관식은 핵심 키워드 10개와 의견 요약 5줄로 정리해줘.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결과는 보고서처럼 보이는 HTML 한 장으로 만들고, 이름·이메일 같은 개인정보 열은 자동으로 제외해줘.</a:t>
            </a:r>
            <a:endParaRPr lang="en-US" sz="1500" dirty="0"/>
          </a:p>
        </p:txBody>
      </p:sp>
      <p:sp>
        <p:nvSpPr>
          <p:cNvPr id="16" name="사례14 용어 배경"/>
          <p:cNvSpPr/>
          <p:nvPr/>
        </p:nvSpPr>
        <p:spPr>
          <a:xfrm>
            <a:off x="548640" y="5943600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사례14 용어"/>
          <p:cNvSpPr txBox="1"/>
          <p:nvPr/>
        </p:nvSpPr>
        <p:spPr>
          <a:xfrm>
            <a:off x="731520" y="5961888"/>
            <a:ext cx="1072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※ 용어 참고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키워드 추출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많이 나온 핵심 단어를 뽑는 것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개인정보 제외(비식별)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누구의 응답인지 알아볼 수 있는 정보를 지우는 처리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테마칩"/>
          <p:cNvSpPr/>
          <p:nvPr/>
        </p:nvSpPr>
        <p:spPr>
          <a:xfrm>
            <a:off x="1600200" y="329184"/>
            <a:ext cx="2148840" cy="29260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테마칩 글자"/>
          <p:cNvSpPr txBox="1"/>
          <p:nvPr/>
        </p:nvSpPr>
        <p:spPr>
          <a:xfrm>
            <a:off x="1600200" y="32918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 · 데이터·분석</a:t>
            </a:r>
            <a:endParaRPr lang="en-US" sz="1200" dirty="0"/>
          </a:p>
        </p:txBody>
      </p:sp>
      <p:sp>
        <p:nvSpPr>
          <p:cNvPr id="4" name="진행 번호"/>
          <p:cNvSpPr txBox="1"/>
          <p:nvPr/>
        </p:nvSpPr>
        <p:spPr>
          <a:xfrm>
            <a:off x="9811512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15 / 35</a:t>
            </a:r>
            <a:endParaRPr lang="en-US" sz="1200" dirty="0"/>
          </a:p>
        </p:txBody>
      </p:sp>
      <p:sp>
        <p:nvSpPr>
          <p:cNvPr id="5" name="번호원"/>
          <p:cNvSpPr/>
          <p:nvPr/>
        </p:nvSpPr>
        <p:spPr>
          <a:xfrm>
            <a:off x="548640" y="658368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번호"/>
          <p:cNvSpPr txBox="1"/>
          <p:nvPr/>
        </p:nvSpPr>
        <p:spPr>
          <a:xfrm>
            <a:off x="548640" y="6583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15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1600200" y="65836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엑셀 오류·이상치 검수기</a:t>
            </a:r>
            <a:endParaRPr lang="en-US" sz="3000" dirty="0"/>
          </a:p>
        </p:txBody>
      </p:sp>
      <p:sp>
        <p:nvSpPr>
          <p:cNvPr id="8" name="의도 라벨"/>
          <p:cNvSpPr txBox="1"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의도</a:t>
            </a:r>
            <a:endParaRPr lang="en-US" sz="1200" dirty="0"/>
          </a:p>
        </p:txBody>
      </p:sp>
      <p:sp>
        <p:nvSpPr>
          <p:cNvPr id="9" name="의도"/>
          <p:cNvSpPr txBox="1"/>
          <p:nvPr/>
        </p:nvSpPr>
        <p:spPr>
          <a:xfrm>
            <a:off x="54864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마감 전에 눈으로 훑던 검수를 자동으로 돌려 빈칸·중복·튀는 값을 찾아낸다.</a:t>
            </a:r>
            <a:endParaRPr lang="en-US" sz="1600" dirty="0"/>
          </a:p>
        </p:txBody>
      </p:sp>
      <p:sp>
        <p:nvSpPr>
          <p:cNvPr id="10" name="노하우 카드"/>
          <p:cNvSpPr/>
          <p:nvPr/>
        </p:nvSpPr>
        <p:spPr>
          <a:xfrm>
            <a:off x="548640" y="3611880"/>
            <a:ext cx="457200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노하우 라벨"/>
          <p:cNvSpPr txBox="1"/>
          <p:nvPr/>
        </p:nvSpPr>
        <p:spPr>
          <a:xfrm>
            <a:off x="7772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노하우</a:t>
            </a:r>
            <a:endParaRPr lang="en-US" sz="1200" dirty="0"/>
          </a:p>
        </p:txBody>
      </p:sp>
      <p:sp>
        <p:nvSpPr>
          <p:cNvPr id="12" name="노하우"/>
          <p:cNvSpPr txBox="1"/>
          <p:nvPr/>
        </p:nvSpPr>
        <p:spPr>
          <a:xfrm>
            <a:off x="777240" y="406908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'원본은 수정하지 말고 검수결과 시트에만 적어줘'를 꼭 넣으세요. 검수 도구가 원본을 건드리면 오히려 사고가 납니다.</a:t>
            </a:r>
            <a:endParaRPr lang="en-US" sz="1400" dirty="0"/>
          </a:p>
        </p:txBody>
      </p:sp>
      <p:sp>
        <p:nvSpPr>
          <p:cNvPr id="13" name="스크립트 카드"/>
          <p:cNvSpPr/>
          <p:nvPr/>
        </p:nvSpPr>
        <p:spPr>
          <a:xfrm>
            <a:off x="5440680" y="1737360"/>
            <a:ext cx="6199632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스크립트 라벨"/>
          <p:cNvSpPr txBox="1"/>
          <p:nvPr/>
        </p:nvSpPr>
        <p:spPr>
          <a:xfrm>
            <a:off x="5715000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AI에게 이렇게 시키세요</a:t>
            </a:r>
            <a:endParaRPr lang="en-US" sz="1200" dirty="0"/>
          </a:p>
        </p:txBody>
      </p:sp>
      <p:sp>
        <p:nvSpPr>
          <p:cNvPr id="15" name="스크립트"/>
          <p:cNvSpPr txBox="1"/>
          <p:nvPr/>
        </p:nvSpPr>
        <p:spPr>
          <a:xfrm>
            <a:off x="5715000" y="2286000"/>
            <a:ext cx="5669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엑셀 시트에서 ①빈칸 ②같은 거래처의 중복 행 ③금액이 평균의 3배 이상인 행 ④날짜 형식이 다른 셀을 찾아줘.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행 번호와 이유를 '검수결과' 시트에 적어줘.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원본 시트는 절대 수정하지 마.</a:t>
            </a:r>
            <a:endParaRPr lang="en-US" sz="1500" dirty="0"/>
          </a:p>
        </p:txBody>
      </p:sp>
      <p:sp>
        <p:nvSpPr>
          <p:cNvPr id="16" name="사례15 용어 배경"/>
          <p:cNvSpPr/>
          <p:nvPr/>
        </p:nvSpPr>
        <p:spPr>
          <a:xfrm>
            <a:off x="548640" y="5943600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사례15 용어"/>
          <p:cNvSpPr txBox="1"/>
          <p:nvPr/>
        </p:nvSpPr>
        <p:spPr>
          <a:xfrm>
            <a:off x="731520" y="5961888"/>
            <a:ext cx="1072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※ 용어 참고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이상치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다른 값들과 동떨어져 튀는 값(오입력 의심)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중복 행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같은 내용이 두 번 이상 들어간 줄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구분 아이콘 원"/>
          <p:cNvSpPr/>
          <p:nvPr/>
        </p:nvSpPr>
        <p:spPr>
          <a:xfrm>
            <a:off x="822960" y="1371600"/>
            <a:ext cx="1554480" cy="1554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" name="Image 0" descr="콘텐츠·커뮤니케이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828800"/>
            <a:ext cx="640080" cy="640080"/>
          </a:xfrm>
          <a:prstGeom prst="rect">
            <a:avLst/>
          </a:prstGeom>
        </p:spPr>
      </p:pic>
      <p:sp>
        <p:nvSpPr>
          <p:cNvPr id="4" name="구분 라벨"/>
          <p:cNvSpPr txBox="1"/>
          <p:nvPr/>
        </p:nvSpPr>
        <p:spPr>
          <a:xfrm>
            <a:off x="822960" y="2926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THEME D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32461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콘텐츠·커뮤니케이션</a:t>
            </a:r>
            <a:endParaRPr lang="en-US" sz="4000" dirty="0"/>
          </a:p>
        </p:txBody>
      </p:sp>
      <p:sp>
        <p:nvSpPr>
          <p:cNvPr id="6" name="구분 설명"/>
          <p:cNvSpPr txBox="1"/>
          <p:nvPr/>
        </p:nvSpPr>
        <p:spPr>
          <a:xfrm>
            <a:off x="822960" y="42519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글·말·발표를 빠르게 다듬는 도구</a:t>
            </a:r>
            <a:endParaRPr lang="en-US" sz="1800" dirty="0"/>
          </a:p>
        </p:txBody>
      </p:sp>
      <p:sp>
        <p:nvSpPr>
          <p:cNvPr id="7" name="구분 목록 카드"/>
          <p:cNvSpPr/>
          <p:nvPr/>
        </p:nvSpPr>
        <p:spPr>
          <a:xfrm>
            <a:off x="6492240" y="1097280"/>
            <a:ext cx="5148072" cy="466344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구분 번호원 16"/>
          <p:cNvSpPr/>
          <p:nvPr/>
        </p:nvSpPr>
        <p:spPr>
          <a:xfrm>
            <a:off x="6812280" y="141732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구분 번호 16"/>
          <p:cNvSpPr txBox="1"/>
          <p:nvPr/>
        </p:nvSpPr>
        <p:spPr>
          <a:xfrm>
            <a:off x="68122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16</a:t>
            </a:r>
            <a:endParaRPr lang="en-US" sz="1400" dirty="0"/>
          </a:p>
        </p:txBody>
      </p:sp>
      <p:sp>
        <p:nvSpPr>
          <p:cNvPr id="10" name="구분 사례명 16"/>
          <p:cNvSpPr txBox="1"/>
          <p:nvPr/>
        </p:nvSpPr>
        <p:spPr>
          <a:xfrm>
            <a:off x="7589520" y="141732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이메일 말투(톤) 변환기</a:t>
            </a:r>
            <a:endParaRPr lang="en-US" sz="1600" dirty="0"/>
          </a:p>
        </p:txBody>
      </p:sp>
      <p:sp>
        <p:nvSpPr>
          <p:cNvPr id="11" name="구분 번호원 17"/>
          <p:cNvSpPr/>
          <p:nvPr/>
        </p:nvSpPr>
        <p:spPr>
          <a:xfrm>
            <a:off x="6812280" y="228600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구분 번호 17"/>
          <p:cNvSpPr txBox="1"/>
          <p:nvPr/>
        </p:nvSpPr>
        <p:spPr>
          <a:xfrm>
            <a:off x="68122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17</a:t>
            </a:r>
            <a:endParaRPr lang="en-US" sz="1400" dirty="0"/>
          </a:p>
        </p:txBody>
      </p:sp>
      <p:sp>
        <p:nvSpPr>
          <p:cNvPr id="13" name="구분 사례명 17"/>
          <p:cNvSpPr txBox="1"/>
          <p:nvPr/>
        </p:nvSpPr>
        <p:spPr>
          <a:xfrm>
            <a:off x="7589520" y="228600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사내 공지 카드뉴스 템플릿</a:t>
            </a:r>
            <a:endParaRPr lang="en-US" sz="1600" dirty="0"/>
          </a:p>
        </p:txBody>
      </p:sp>
      <p:sp>
        <p:nvSpPr>
          <p:cNvPr id="14" name="구분 번호원 18"/>
          <p:cNvSpPr/>
          <p:nvPr/>
        </p:nvSpPr>
        <p:spPr>
          <a:xfrm>
            <a:off x="6812280" y="315468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구분 번호 18"/>
          <p:cNvSpPr txBox="1"/>
          <p:nvPr/>
        </p:nvSpPr>
        <p:spPr>
          <a:xfrm>
            <a:off x="681228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18</a:t>
            </a:r>
            <a:endParaRPr lang="en-US" sz="1400" dirty="0"/>
          </a:p>
        </p:txBody>
      </p:sp>
      <p:sp>
        <p:nvSpPr>
          <p:cNvPr id="16" name="구분 사례명 18"/>
          <p:cNvSpPr txBox="1"/>
          <p:nvPr/>
        </p:nvSpPr>
        <p:spPr>
          <a:xfrm>
            <a:off x="7589520" y="315468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녹취·영상 자막 정리기</a:t>
            </a:r>
            <a:endParaRPr lang="en-US" sz="1600" dirty="0"/>
          </a:p>
        </p:txBody>
      </p:sp>
      <p:sp>
        <p:nvSpPr>
          <p:cNvPr id="17" name="구분 번호원 19"/>
          <p:cNvSpPr/>
          <p:nvPr/>
        </p:nvSpPr>
        <p:spPr>
          <a:xfrm>
            <a:off x="6812280" y="40233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구분 번호 19"/>
          <p:cNvSpPr txBox="1"/>
          <p:nvPr/>
        </p:nvSpPr>
        <p:spPr>
          <a:xfrm>
            <a:off x="681228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19</a:t>
            </a:r>
            <a:endParaRPr lang="en-US" sz="1400" dirty="0"/>
          </a:p>
        </p:txBody>
      </p:sp>
      <p:sp>
        <p:nvSpPr>
          <p:cNvPr id="19" name="구분 사례명 19"/>
          <p:cNvSpPr txBox="1"/>
          <p:nvPr/>
        </p:nvSpPr>
        <p:spPr>
          <a:xfrm>
            <a:off x="7589520" y="402336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보고서 → 발표 슬라이드 자동 변환</a:t>
            </a:r>
            <a:endParaRPr lang="en-US" sz="1600" dirty="0"/>
          </a:p>
        </p:txBody>
      </p:sp>
      <p:sp>
        <p:nvSpPr>
          <p:cNvPr id="20" name="구분 번호원 20"/>
          <p:cNvSpPr/>
          <p:nvPr/>
        </p:nvSpPr>
        <p:spPr>
          <a:xfrm>
            <a:off x="6812280" y="489204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구분 번호 20"/>
          <p:cNvSpPr txBox="1"/>
          <p:nvPr/>
        </p:nvSpPr>
        <p:spPr>
          <a:xfrm>
            <a:off x="681228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20</a:t>
            </a:r>
            <a:endParaRPr lang="en-US" sz="1400" dirty="0"/>
          </a:p>
        </p:txBody>
      </p:sp>
      <p:sp>
        <p:nvSpPr>
          <p:cNvPr id="22" name="구분 사례명 20"/>
          <p:cNvSpPr txBox="1"/>
          <p:nvPr/>
        </p:nvSpPr>
        <p:spPr>
          <a:xfrm>
            <a:off x="7589520" y="489204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번역 + 용어집 통일 도구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테마칩"/>
          <p:cNvSpPr/>
          <p:nvPr/>
        </p:nvSpPr>
        <p:spPr>
          <a:xfrm>
            <a:off x="1600200" y="329184"/>
            <a:ext cx="2825496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" name="테마칩 글자"/>
          <p:cNvSpPr txBox="1"/>
          <p:nvPr/>
        </p:nvSpPr>
        <p:spPr>
          <a:xfrm>
            <a:off x="1600200" y="329184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 · 콘텐츠·커뮤니케이션</a:t>
            </a:r>
            <a:endParaRPr lang="en-US" sz="1200" dirty="0"/>
          </a:p>
        </p:txBody>
      </p:sp>
      <p:sp>
        <p:nvSpPr>
          <p:cNvPr id="4" name="진행 번호"/>
          <p:cNvSpPr txBox="1"/>
          <p:nvPr/>
        </p:nvSpPr>
        <p:spPr>
          <a:xfrm>
            <a:off x="9811512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16 / 35</a:t>
            </a:r>
            <a:endParaRPr lang="en-US" sz="1200" dirty="0"/>
          </a:p>
        </p:txBody>
      </p:sp>
      <p:sp>
        <p:nvSpPr>
          <p:cNvPr id="5" name="번호원"/>
          <p:cNvSpPr/>
          <p:nvPr/>
        </p:nvSpPr>
        <p:spPr>
          <a:xfrm>
            <a:off x="548640" y="658368"/>
            <a:ext cx="822960" cy="8229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번호"/>
          <p:cNvSpPr txBox="1"/>
          <p:nvPr/>
        </p:nvSpPr>
        <p:spPr>
          <a:xfrm>
            <a:off x="548640" y="6583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16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1600200" y="65836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이메일 말투(톤) 변환기</a:t>
            </a:r>
            <a:endParaRPr lang="en-US" sz="3000" dirty="0"/>
          </a:p>
        </p:txBody>
      </p:sp>
      <p:sp>
        <p:nvSpPr>
          <p:cNvPr id="8" name="의도 라벨"/>
          <p:cNvSpPr txBox="1"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의도</a:t>
            </a:r>
            <a:endParaRPr lang="en-US" sz="1200" dirty="0"/>
          </a:p>
        </p:txBody>
      </p:sp>
      <p:sp>
        <p:nvSpPr>
          <p:cNvPr id="9" name="의도"/>
          <p:cNvSpPr txBox="1"/>
          <p:nvPr/>
        </p:nvSpPr>
        <p:spPr>
          <a:xfrm>
            <a:off x="54864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받는 사람이 상사·타팀·고객일 때마다 말투를 고민하는 시간을 줄인다.</a:t>
            </a:r>
            <a:endParaRPr lang="en-US" sz="1600" dirty="0"/>
          </a:p>
        </p:txBody>
      </p:sp>
      <p:sp>
        <p:nvSpPr>
          <p:cNvPr id="10" name="노하우 카드"/>
          <p:cNvSpPr/>
          <p:nvPr/>
        </p:nvSpPr>
        <p:spPr>
          <a:xfrm>
            <a:off x="548640" y="3611880"/>
            <a:ext cx="457200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노하우 라벨"/>
          <p:cNvSpPr txBox="1"/>
          <p:nvPr/>
        </p:nvSpPr>
        <p:spPr>
          <a:xfrm>
            <a:off x="7772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노하우</a:t>
            </a:r>
            <a:endParaRPr lang="en-US" sz="1200" dirty="0"/>
          </a:p>
        </p:txBody>
      </p:sp>
      <p:sp>
        <p:nvSpPr>
          <p:cNvPr id="12" name="노하우"/>
          <p:cNvSpPr txBox="1"/>
          <p:nvPr/>
        </p:nvSpPr>
        <p:spPr>
          <a:xfrm>
            <a:off x="777240" y="406908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고객 이름·계약 금액 같은 정보는 가명으로 바꿔서 입력하세요. 편리함보다 보안이 먼저입니다.</a:t>
            </a:r>
            <a:endParaRPr lang="en-US" sz="1400" dirty="0"/>
          </a:p>
        </p:txBody>
      </p:sp>
      <p:sp>
        <p:nvSpPr>
          <p:cNvPr id="13" name="스크립트 카드"/>
          <p:cNvSpPr/>
          <p:nvPr/>
        </p:nvSpPr>
        <p:spPr>
          <a:xfrm>
            <a:off x="5440680" y="1737360"/>
            <a:ext cx="6199632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스크립트 라벨"/>
          <p:cNvSpPr txBox="1"/>
          <p:nvPr/>
        </p:nvSpPr>
        <p:spPr>
          <a:xfrm>
            <a:off x="5715000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AI에게 이렇게 시키세요</a:t>
            </a:r>
            <a:endParaRPr lang="en-US" sz="1200" dirty="0"/>
          </a:p>
        </p:txBody>
      </p:sp>
      <p:sp>
        <p:nvSpPr>
          <p:cNvPr id="15" name="스크립트"/>
          <p:cNvSpPr txBox="1"/>
          <p:nvPr/>
        </p:nvSpPr>
        <p:spPr>
          <a:xfrm>
            <a:off x="5715000" y="2286000"/>
            <a:ext cx="5669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내가 쓴 이메일 초안을 붙여넣으면 ①정중한 버전 ②간결한 버전 ③거절이지만 부드러운 버전 3가지로 바꿔주는 웹페이지를 만들어줘.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받는 사람(상사/타팀/고객)을 고르면 존댓말 수준이 달라지게 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각 버전 옆에 복사 버튼을 넣어줘.</a:t>
            </a:r>
            <a:endParaRPr lang="en-US" sz="1500" dirty="0"/>
          </a:p>
        </p:txBody>
      </p:sp>
      <p:sp>
        <p:nvSpPr>
          <p:cNvPr id="16" name="사례16 용어 배경"/>
          <p:cNvSpPr/>
          <p:nvPr/>
        </p:nvSpPr>
        <p:spPr>
          <a:xfrm>
            <a:off x="548640" y="5943600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사례16 용어"/>
          <p:cNvSpPr txBox="1"/>
          <p:nvPr/>
        </p:nvSpPr>
        <p:spPr>
          <a:xfrm>
            <a:off x="731520" y="5961888"/>
            <a:ext cx="1072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※ 용어 참고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톤앤매너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글의 분위기와 격식 수준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초안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다듬기 전의 처음 쓴 글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테마칩"/>
          <p:cNvSpPr/>
          <p:nvPr/>
        </p:nvSpPr>
        <p:spPr>
          <a:xfrm>
            <a:off x="1600200" y="329184"/>
            <a:ext cx="2825496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" name="테마칩 글자"/>
          <p:cNvSpPr txBox="1"/>
          <p:nvPr/>
        </p:nvSpPr>
        <p:spPr>
          <a:xfrm>
            <a:off x="1600200" y="329184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 · 콘텐츠·커뮤니케이션</a:t>
            </a:r>
            <a:endParaRPr lang="en-US" sz="1200" dirty="0"/>
          </a:p>
        </p:txBody>
      </p:sp>
      <p:sp>
        <p:nvSpPr>
          <p:cNvPr id="4" name="진행 번호"/>
          <p:cNvSpPr txBox="1"/>
          <p:nvPr/>
        </p:nvSpPr>
        <p:spPr>
          <a:xfrm>
            <a:off x="9811512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17 / 35</a:t>
            </a:r>
            <a:endParaRPr lang="en-US" sz="1200" dirty="0"/>
          </a:p>
        </p:txBody>
      </p:sp>
      <p:sp>
        <p:nvSpPr>
          <p:cNvPr id="5" name="번호원"/>
          <p:cNvSpPr/>
          <p:nvPr/>
        </p:nvSpPr>
        <p:spPr>
          <a:xfrm>
            <a:off x="548640" y="658368"/>
            <a:ext cx="822960" cy="8229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번호"/>
          <p:cNvSpPr txBox="1"/>
          <p:nvPr/>
        </p:nvSpPr>
        <p:spPr>
          <a:xfrm>
            <a:off x="548640" y="6583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17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1600200" y="65836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사내 공지 카드뉴스 템플릿</a:t>
            </a:r>
            <a:endParaRPr lang="en-US" sz="3000" dirty="0"/>
          </a:p>
        </p:txBody>
      </p:sp>
      <p:sp>
        <p:nvSpPr>
          <p:cNvPr id="8" name="의도 라벨"/>
          <p:cNvSpPr txBox="1"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의도</a:t>
            </a:r>
            <a:endParaRPr lang="en-US" sz="1200" dirty="0"/>
          </a:p>
        </p:txBody>
      </p:sp>
      <p:sp>
        <p:nvSpPr>
          <p:cNvPr id="9" name="의도"/>
          <p:cNvSpPr txBox="1"/>
          <p:nvPr/>
        </p:nvSpPr>
        <p:spPr>
          <a:xfrm>
            <a:off x="54864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행사 공지를 디자인 툴 없이 입력만으로 이미지 5장으로 뽑는다.</a:t>
            </a:r>
            <a:endParaRPr lang="en-US" sz="1600" dirty="0"/>
          </a:p>
        </p:txBody>
      </p:sp>
      <p:sp>
        <p:nvSpPr>
          <p:cNvPr id="10" name="노하우 카드"/>
          <p:cNvSpPr/>
          <p:nvPr/>
        </p:nvSpPr>
        <p:spPr>
          <a:xfrm>
            <a:off x="548640" y="3611880"/>
            <a:ext cx="457200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노하우 라벨"/>
          <p:cNvSpPr txBox="1"/>
          <p:nvPr/>
        </p:nvSpPr>
        <p:spPr>
          <a:xfrm>
            <a:off x="7772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노하우</a:t>
            </a:r>
            <a:endParaRPr lang="en-US" sz="1200" dirty="0"/>
          </a:p>
        </p:txBody>
      </p:sp>
      <p:sp>
        <p:nvSpPr>
          <p:cNvPr id="12" name="노하우"/>
          <p:cNvSpPr txBox="1"/>
          <p:nvPr/>
        </p:nvSpPr>
        <p:spPr>
          <a:xfrm>
            <a:off x="777240" y="406908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색은 말로 설명하지 말고 색상코드로 주세요. 회사 대표색을 정확히 맞출 수 있습니다.</a:t>
            </a:r>
            <a:endParaRPr lang="en-US" sz="1400" dirty="0"/>
          </a:p>
        </p:txBody>
      </p:sp>
      <p:sp>
        <p:nvSpPr>
          <p:cNvPr id="13" name="스크립트 카드"/>
          <p:cNvSpPr/>
          <p:nvPr/>
        </p:nvSpPr>
        <p:spPr>
          <a:xfrm>
            <a:off x="5440680" y="1737360"/>
            <a:ext cx="6199632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스크립트 라벨"/>
          <p:cNvSpPr txBox="1"/>
          <p:nvPr/>
        </p:nvSpPr>
        <p:spPr>
          <a:xfrm>
            <a:off x="5715000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AI에게 이렇게 시키세요</a:t>
            </a:r>
            <a:endParaRPr lang="en-US" sz="1200" dirty="0"/>
          </a:p>
        </p:txBody>
      </p:sp>
      <p:sp>
        <p:nvSpPr>
          <p:cNvPr id="15" name="스크립트"/>
          <p:cNvSpPr txBox="1"/>
          <p:nvPr/>
        </p:nvSpPr>
        <p:spPr>
          <a:xfrm>
            <a:off x="5715000" y="2286000"/>
            <a:ext cx="5669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사내 행사 공지용 카드뉴스 5장을 HTML로 만들어줘.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제목, 날짜·장소, 신청 방법을 입력하면 자동으로 채워지고, 대표 색상은 #0E7C72로 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각 장을 PNG 이미지로 저장하는 버튼도 넣어줘.</a:t>
            </a:r>
            <a:endParaRPr lang="en-US" sz="1500" dirty="0"/>
          </a:p>
        </p:txBody>
      </p:sp>
      <p:sp>
        <p:nvSpPr>
          <p:cNvPr id="16" name="사례17 용어 배경"/>
          <p:cNvSpPr/>
          <p:nvPr/>
        </p:nvSpPr>
        <p:spPr>
          <a:xfrm>
            <a:off x="548640" y="5943600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사례17 용어"/>
          <p:cNvSpPr txBox="1"/>
          <p:nvPr/>
        </p:nvSpPr>
        <p:spPr>
          <a:xfrm>
            <a:off x="731520" y="5961888"/>
            <a:ext cx="1072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※ 용어 참고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템플릿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내용만 바꿔 끼우는 틀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색상코드(HEX)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#0E7C72처럼 색을 숫자로 적는 방식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PNG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이미지 파일 형식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테마칩"/>
          <p:cNvSpPr/>
          <p:nvPr/>
        </p:nvSpPr>
        <p:spPr>
          <a:xfrm>
            <a:off x="1600200" y="329184"/>
            <a:ext cx="2825496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" name="테마칩 글자"/>
          <p:cNvSpPr txBox="1"/>
          <p:nvPr/>
        </p:nvSpPr>
        <p:spPr>
          <a:xfrm>
            <a:off x="1600200" y="329184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 · 콘텐츠·커뮤니케이션</a:t>
            </a:r>
            <a:endParaRPr lang="en-US" sz="1200" dirty="0"/>
          </a:p>
        </p:txBody>
      </p:sp>
      <p:sp>
        <p:nvSpPr>
          <p:cNvPr id="4" name="진행 번호"/>
          <p:cNvSpPr txBox="1"/>
          <p:nvPr/>
        </p:nvSpPr>
        <p:spPr>
          <a:xfrm>
            <a:off x="9811512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18 / 35</a:t>
            </a:r>
            <a:endParaRPr lang="en-US" sz="1200" dirty="0"/>
          </a:p>
        </p:txBody>
      </p:sp>
      <p:sp>
        <p:nvSpPr>
          <p:cNvPr id="5" name="번호원"/>
          <p:cNvSpPr/>
          <p:nvPr/>
        </p:nvSpPr>
        <p:spPr>
          <a:xfrm>
            <a:off x="548640" y="658368"/>
            <a:ext cx="822960" cy="8229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번호"/>
          <p:cNvSpPr txBox="1"/>
          <p:nvPr/>
        </p:nvSpPr>
        <p:spPr>
          <a:xfrm>
            <a:off x="548640" y="6583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18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1600200" y="65836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녹취·영상 자막 정리기</a:t>
            </a:r>
            <a:endParaRPr lang="en-US" sz="3000" dirty="0"/>
          </a:p>
        </p:txBody>
      </p:sp>
      <p:sp>
        <p:nvSpPr>
          <p:cNvPr id="8" name="의도 라벨"/>
          <p:cNvSpPr txBox="1"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의도</a:t>
            </a:r>
            <a:endParaRPr lang="en-US" sz="1200" dirty="0"/>
          </a:p>
        </p:txBody>
      </p:sp>
      <p:sp>
        <p:nvSpPr>
          <p:cNvPr id="9" name="의도"/>
          <p:cNvSpPr txBox="1"/>
          <p:nvPr/>
        </p:nvSpPr>
        <p:spPr>
          <a:xfrm>
            <a:off x="54864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교육 영상·회의 녹음에서 나온 어수선한 자막을 읽을 수 있는 글과 요약으로 바꾼다.</a:t>
            </a:r>
            <a:endParaRPr lang="en-US" sz="1600" dirty="0"/>
          </a:p>
        </p:txBody>
      </p:sp>
      <p:sp>
        <p:nvSpPr>
          <p:cNvPr id="10" name="노하우 카드"/>
          <p:cNvSpPr/>
          <p:nvPr/>
        </p:nvSpPr>
        <p:spPr>
          <a:xfrm>
            <a:off x="548640" y="3611880"/>
            <a:ext cx="457200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노하우 라벨"/>
          <p:cNvSpPr txBox="1"/>
          <p:nvPr/>
        </p:nvSpPr>
        <p:spPr>
          <a:xfrm>
            <a:off x="7772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노하우</a:t>
            </a:r>
            <a:endParaRPr lang="en-US" sz="1200" dirty="0"/>
          </a:p>
        </p:txBody>
      </p:sp>
      <p:sp>
        <p:nvSpPr>
          <p:cNvPr id="12" name="노하우"/>
          <p:cNvSpPr txBox="1"/>
          <p:nvPr/>
        </p:nvSpPr>
        <p:spPr>
          <a:xfrm>
            <a:off x="777240" y="406908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'내용을 새로 지어내지 말고, 말한 것만 정리'를 명시하세요. 요약 도구에서 가장 중요한 규칙입니다.</a:t>
            </a:r>
            <a:endParaRPr lang="en-US" sz="1400" dirty="0"/>
          </a:p>
        </p:txBody>
      </p:sp>
      <p:sp>
        <p:nvSpPr>
          <p:cNvPr id="13" name="스크립트 카드"/>
          <p:cNvSpPr/>
          <p:nvPr/>
        </p:nvSpPr>
        <p:spPr>
          <a:xfrm>
            <a:off x="5440680" y="1737360"/>
            <a:ext cx="6199632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스크립트 라벨"/>
          <p:cNvSpPr txBox="1"/>
          <p:nvPr/>
        </p:nvSpPr>
        <p:spPr>
          <a:xfrm>
            <a:off x="5715000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AI에게 이렇게 시키세요</a:t>
            </a:r>
            <a:endParaRPr lang="en-US" sz="1200" dirty="0"/>
          </a:p>
        </p:txBody>
      </p:sp>
      <p:sp>
        <p:nvSpPr>
          <p:cNvPr id="15" name="스크립트"/>
          <p:cNvSpPr txBox="1"/>
          <p:nvPr/>
        </p:nvSpPr>
        <p:spPr>
          <a:xfrm>
            <a:off x="5715000" y="2286000"/>
            <a:ext cx="5669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자막 파일(.srt)을 붙여넣으면 시간 표시를 지우고, 말 더듬음과 추임새를 정리해서 문단으로 나눠줘.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맨 끝에 '핵심 요약 5줄'을 붙여줘.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없던 내용은 절대 추가하지 말고 말한 내용만 정리해줘.</a:t>
            </a:r>
            <a:endParaRPr lang="en-US" sz="1500" dirty="0"/>
          </a:p>
        </p:txBody>
      </p:sp>
      <p:sp>
        <p:nvSpPr>
          <p:cNvPr id="16" name="사례18 용어 배경"/>
          <p:cNvSpPr/>
          <p:nvPr/>
        </p:nvSpPr>
        <p:spPr>
          <a:xfrm>
            <a:off x="548640" y="5943600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사례18 용어"/>
          <p:cNvSpPr txBox="1"/>
          <p:nvPr/>
        </p:nvSpPr>
        <p:spPr>
          <a:xfrm>
            <a:off x="731520" y="5961888"/>
            <a:ext cx="1072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※ 용어 참고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SRT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영상 자막 파일 형식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타임스탬프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00:01:23 같은 시간 표시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요약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핵심만 줄여 쓴 글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테마칩"/>
          <p:cNvSpPr/>
          <p:nvPr/>
        </p:nvSpPr>
        <p:spPr>
          <a:xfrm>
            <a:off x="1600200" y="329184"/>
            <a:ext cx="2825496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" name="테마칩 글자"/>
          <p:cNvSpPr txBox="1"/>
          <p:nvPr/>
        </p:nvSpPr>
        <p:spPr>
          <a:xfrm>
            <a:off x="1600200" y="329184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 · 콘텐츠·커뮤니케이션</a:t>
            </a:r>
            <a:endParaRPr lang="en-US" sz="1200" dirty="0"/>
          </a:p>
        </p:txBody>
      </p:sp>
      <p:sp>
        <p:nvSpPr>
          <p:cNvPr id="4" name="진행 번호"/>
          <p:cNvSpPr txBox="1"/>
          <p:nvPr/>
        </p:nvSpPr>
        <p:spPr>
          <a:xfrm>
            <a:off x="9811512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19 / 35</a:t>
            </a:r>
            <a:endParaRPr lang="en-US" sz="1200" dirty="0"/>
          </a:p>
        </p:txBody>
      </p:sp>
      <p:sp>
        <p:nvSpPr>
          <p:cNvPr id="5" name="번호원"/>
          <p:cNvSpPr/>
          <p:nvPr/>
        </p:nvSpPr>
        <p:spPr>
          <a:xfrm>
            <a:off x="548640" y="658368"/>
            <a:ext cx="822960" cy="8229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번호"/>
          <p:cNvSpPr txBox="1"/>
          <p:nvPr/>
        </p:nvSpPr>
        <p:spPr>
          <a:xfrm>
            <a:off x="548640" y="6583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19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1600200" y="65836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보고서 → 발표 슬라이드 자동 변환</a:t>
            </a:r>
            <a:endParaRPr lang="en-US" sz="3000" dirty="0"/>
          </a:p>
        </p:txBody>
      </p:sp>
      <p:sp>
        <p:nvSpPr>
          <p:cNvPr id="8" name="의도 라벨"/>
          <p:cNvSpPr txBox="1"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의도</a:t>
            </a:r>
            <a:endParaRPr lang="en-US" sz="1200" dirty="0"/>
          </a:p>
        </p:txBody>
      </p:sp>
      <p:sp>
        <p:nvSpPr>
          <p:cNvPr id="9" name="의도"/>
          <p:cNvSpPr txBox="1"/>
          <p:nvPr/>
        </p:nvSpPr>
        <p:spPr>
          <a:xfrm>
            <a:off x="54864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긴 보고서를 읽고 '한 장에 한 메시지' 구조의 발표자료 초안을 바로 만든다.</a:t>
            </a:r>
            <a:endParaRPr lang="en-US" sz="1600" dirty="0"/>
          </a:p>
        </p:txBody>
      </p:sp>
      <p:sp>
        <p:nvSpPr>
          <p:cNvPr id="10" name="노하우 카드"/>
          <p:cNvSpPr/>
          <p:nvPr/>
        </p:nvSpPr>
        <p:spPr>
          <a:xfrm>
            <a:off x="548640" y="3611880"/>
            <a:ext cx="457200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노하우 라벨"/>
          <p:cNvSpPr txBox="1"/>
          <p:nvPr/>
        </p:nvSpPr>
        <p:spPr>
          <a:xfrm>
            <a:off x="7772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노하우</a:t>
            </a:r>
            <a:endParaRPr lang="en-US" sz="1200" dirty="0"/>
          </a:p>
        </p:txBody>
      </p:sp>
      <p:sp>
        <p:nvSpPr>
          <p:cNvPr id="12" name="노하우"/>
          <p:cNvSpPr txBox="1"/>
          <p:nvPr/>
        </p:nvSpPr>
        <p:spPr>
          <a:xfrm>
            <a:off x="777240" y="406908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'제목은 결론 문장으로'라고 하면 슬라이드가 훨씬 설득력 있어집니다. 발표 대본까지 같이 요청하면 연습도 됩니다.</a:t>
            </a:r>
            <a:endParaRPr lang="en-US" sz="1400" dirty="0"/>
          </a:p>
        </p:txBody>
      </p:sp>
      <p:sp>
        <p:nvSpPr>
          <p:cNvPr id="13" name="스크립트 카드"/>
          <p:cNvSpPr/>
          <p:nvPr/>
        </p:nvSpPr>
        <p:spPr>
          <a:xfrm>
            <a:off x="5440680" y="1737360"/>
            <a:ext cx="6199632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스크립트 라벨"/>
          <p:cNvSpPr txBox="1"/>
          <p:nvPr/>
        </p:nvSpPr>
        <p:spPr>
          <a:xfrm>
            <a:off x="5715000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AI에게 이렇게 시키세요</a:t>
            </a:r>
            <a:endParaRPr lang="en-US" sz="1200" dirty="0"/>
          </a:p>
        </p:txBody>
      </p:sp>
      <p:sp>
        <p:nvSpPr>
          <p:cNvPr id="15" name="스크립트"/>
          <p:cNvSpPr txBox="1"/>
          <p:nvPr/>
        </p:nvSpPr>
        <p:spPr>
          <a:xfrm>
            <a:off x="5715000" y="2286000"/>
            <a:ext cx="5669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아래 보고서 내용으로 12장짜리 발표자료(.pptx)를 만들어줘.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한 장에 메시지 하나, 제목은 결론 문장으로, 중요한 숫자는 큰 글씨로 강조해줘.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발표자 노트에 말할 내용을 2~3문장씩 넣어줘.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[보고서 내용 붙여넣기]</a:t>
            </a:r>
            <a:endParaRPr lang="en-US" sz="1500" dirty="0"/>
          </a:p>
        </p:txBody>
      </p:sp>
      <p:sp>
        <p:nvSpPr>
          <p:cNvPr id="16" name="사례19 용어 배경"/>
          <p:cNvSpPr/>
          <p:nvPr/>
        </p:nvSpPr>
        <p:spPr>
          <a:xfrm>
            <a:off x="548640" y="5943600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사례19 용어"/>
          <p:cNvSpPr txBox="1"/>
          <p:nvPr/>
        </p:nvSpPr>
        <p:spPr>
          <a:xfrm>
            <a:off x="731520" y="5961888"/>
            <a:ext cx="1072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※ 용어 참고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pptx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파워포인트 파일 형식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발표자 노트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발표 중에만 나에게 보이는 슬라이드 밑 메모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결론 문장형 제목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주제어 대신 말하려는 결론을 제목으로 쓰는 방식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테마칩"/>
          <p:cNvSpPr/>
          <p:nvPr/>
        </p:nvSpPr>
        <p:spPr>
          <a:xfrm>
            <a:off x="1600200" y="329184"/>
            <a:ext cx="2825496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" name="테마칩 글자"/>
          <p:cNvSpPr txBox="1"/>
          <p:nvPr/>
        </p:nvSpPr>
        <p:spPr>
          <a:xfrm>
            <a:off x="1600200" y="329184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 · 콘텐츠·커뮤니케이션</a:t>
            </a:r>
            <a:endParaRPr lang="en-US" sz="1200" dirty="0"/>
          </a:p>
        </p:txBody>
      </p:sp>
      <p:sp>
        <p:nvSpPr>
          <p:cNvPr id="4" name="진행 번호"/>
          <p:cNvSpPr txBox="1"/>
          <p:nvPr/>
        </p:nvSpPr>
        <p:spPr>
          <a:xfrm>
            <a:off x="9811512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20 / 35</a:t>
            </a:r>
            <a:endParaRPr lang="en-US" sz="1200" dirty="0"/>
          </a:p>
        </p:txBody>
      </p:sp>
      <p:sp>
        <p:nvSpPr>
          <p:cNvPr id="5" name="번호원"/>
          <p:cNvSpPr/>
          <p:nvPr/>
        </p:nvSpPr>
        <p:spPr>
          <a:xfrm>
            <a:off x="548640" y="658368"/>
            <a:ext cx="822960" cy="8229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번호"/>
          <p:cNvSpPr txBox="1"/>
          <p:nvPr/>
        </p:nvSpPr>
        <p:spPr>
          <a:xfrm>
            <a:off x="548640" y="6583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20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1600200" y="65836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번역 + 용어집 통일 도구</a:t>
            </a:r>
            <a:endParaRPr lang="en-US" sz="3000" dirty="0"/>
          </a:p>
        </p:txBody>
      </p:sp>
      <p:sp>
        <p:nvSpPr>
          <p:cNvPr id="8" name="의도 라벨"/>
          <p:cNvSpPr txBox="1"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의도</a:t>
            </a:r>
            <a:endParaRPr lang="en-US" sz="1200" dirty="0"/>
          </a:p>
        </p:txBody>
      </p:sp>
      <p:sp>
        <p:nvSpPr>
          <p:cNvPr id="9" name="의도"/>
          <p:cNvSpPr txBox="1"/>
          <p:nvPr/>
        </p:nvSpPr>
        <p:spPr>
          <a:xfrm>
            <a:off x="54864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번역할 때마다 용어가 달라지는 문제를 없애고, 우리 회사 용어로 통일한다.</a:t>
            </a:r>
            <a:endParaRPr lang="en-US" sz="1600" dirty="0"/>
          </a:p>
        </p:txBody>
      </p:sp>
      <p:sp>
        <p:nvSpPr>
          <p:cNvPr id="10" name="노하우 카드"/>
          <p:cNvSpPr/>
          <p:nvPr/>
        </p:nvSpPr>
        <p:spPr>
          <a:xfrm>
            <a:off x="548640" y="3611880"/>
            <a:ext cx="457200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노하우 라벨"/>
          <p:cNvSpPr txBox="1"/>
          <p:nvPr/>
        </p:nvSpPr>
        <p:spPr>
          <a:xfrm>
            <a:off x="7772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노하우</a:t>
            </a:r>
            <a:endParaRPr lang="en-US" sz="1200" dirty="0"/>
          </a:p>
        </p:txBody>
      </p:sp>
      <p:sp>
        <p:nvSpPr>
          <p:cNvPr id="12" name="노하우"/>
          <p:cNvSpPr txBox="1"/>
          <p:nvPr/>
        </p:nvSpPr>
        <p:spPr>
          <a:xfrm>
            <a:off x="777240" y="406908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용어집은 '한글,영어' 두 열의 CSV면 충분합니다. 번역 맨 끝에 '확인할 용어 목록'을 받으면 검수가 쉬워집니다.</a:t>
            </a:r>
            <a:endParaRPr lang="en-US" sz="1400" dirty="0"/>
          </a:p>
        </p:txBody>
      </p:sp>
      <p:sp>
        <p:nvSpPr>
          <p:cNvPr id="13" name="스크립트 카드"/>
          <p:cNvSpPr/>
          <p:nvPr/>
        </p:nvSpPr>
        <p:spPr>
          <a:xfrm>
            <a:off x="5440680" y="1737360"/>
            <a:ext cx="6199632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스크립트 라벨"/>
          <p:cNvSpPr txBox="1"/>
          <p:nvPr/>
        </p:nvSpPr>
        <p:spPr>
          <a:xfrm>
            <a:off x="5715000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AI에게 이렇게 시키세요</a:t>
            </a:r>
            <a:endParaRPr lang="en-US" sz="1200" dirty="0"/>
          </a:p>
        </p:txBody>
      </p:sp>
      <p:sp>
        <p:nvSpPr>
          <p:cNvPr id="15" name="스크립트"/>
          <p:cNvSpPr txBox="1"/>
          <p:nvPr/>
        </p:nvSpPr>
        <p:spPr>
          <a:xfrm>
            <a:off x="5715000" y="2286000"/>
            <a:ext cx="5669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한국어 매뉴얼 텍스트를 영어로 번역해줘.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내가 올린 용어집(CSV)에 있는 단어는 반드시 지정한 영어 표현만 써줘.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용어집에 없는 전문용어는 번역 끝에 '확인 필요 용어' 목록으로 따로 모아줘.</a:t>
            </a:r>
            <a:endParaRPr lang="en-US" sz="1500" dirty="0"/>
          </a:p>
        </p:txBody>
      </p:sp>
      <p:sp>
        <p:nvSpPr>
          <p:cNvPr id="16" name="사례20 용어 배경"/>
          <p:cNvSpPr/>
          <p:nvPr/>
        </p:nvSpPr>
        <p:spPr>
          <a:xfrm>
            <a:off x="548640" y="5943600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사례20 용어"/>
          <p:cNvSpPr txBox="1"/>
          <p:nvPr/>
        </p:nvSpPr>
        <p:spPr>
          <a:xfrm>
            <a:off x="731520" y="5961888"/>
            <a:ext cx="1072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※ 용어 참고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용어집(글로서리)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회사에서 정한 용어와 번역어를 모아둔 표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검수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틀린 곳이 없는지 확인하는 일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구분 아이콘 원"/>
          <p:cNvSpPr/>
          <p:nvPr/>
        </p:nvSpPr>
        <p:spPr>
          <a:xfrm>
            <a:off x="822960" y="1371600"/>
            <a:ext cx="1554480" cy="15544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" name="Image 0" descr="개인 생활·재테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828800"/>
            <a:ext cx="640080" cy="640080"/>
          </a:xfrm>
          <a:prstGeom prst="rect">
            <a:avLst/>
          </a:prstGeom>
        </p:spPr>
      </p:pic>
      <p:sp>
        <p:nvSpPr>
          <p:cNvPr id="4" name="구분 라벨"/>
          <p:cNvSpPr txBox="1"/>
          <p:nvPr/>
        </p:nvSpPr>
        <p:spPr>
          <a:xfrm>
            <a:off x="822960" y="2926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THEME E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32461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개인 생활·재테크</a:t>
            </a:r>
            <a:endParaRPr lang="en-US" sz="4000" dirty="0"/>
          </a:p>
        </p:txBody>
      </p:sp>
      <p:sp>
        <p:nvSpPr>
          <p:cNvPr id="6" name="구분 설명"/>
          <p:cNvSpPr txBox="1"/>
          <p:nvPr/>
        </p:nvSpPr>
        <p:spPr>
          <a:xfrm>
            <a:off x="822960" y="42519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내 일상과 돈 관리를 편하게 만드는 도구</a:t>
            </a:r>
            <a:endParaRPr lang="en-US" sz="1800" dirty="0"/>
          </a:p>
        </p:txBody>
      </p:sp>
      <p:sp>
        <p:nvSpPr>
          <p:cNvPr id="7" name="구분 목록 카드"/>
          <p:cNvSpPr/>
          <p:nvPr/>
        </p:nvSpPr>
        <p:spPr>
          <a:xfrm>
            <a:off x="6492240" y="1097280"/>
            <a:ext cx="5148072" cy="466344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구분 번호원 21"/>
          <p:cNvSpPr/>
          <p:nvPr/>
        </p:nvSpPr>
        <p:spPr>
          <a:xfrm>
            <a:off x="6812280" y="141732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구분 번호 21"/>
          <p:cNvSpPr txBox="1"/>
          <p:nvPr/>
        </p:nvSpPr>
        <p:spPr>
          <a:xfrm>
            <a:off x="68122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21</a:t>
            </a:r>
            <a:endParaRPr lang="en-US" sz="1400" dirty="0"/>
          </a:p>
        </p:txBody>
      </p:sp>
      <p:sp>
        <p:nvSpPr>
          <p:cNvPr id="10" name="구분 사례명 21"/>
          <p:cNvSpPr txBox="1"/>
          <p:nvPr/>
        </p:nvSpPr>
        <p:spPr>
          <a:xfrm>
            <a:off x="7589520" y="141732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카드 내역 가계부 자동 분석</a:t>
            </a:r>
            <a:endParaRPr lang="en-US" sz="1600" dirty="0"/>
          </a:p>
        </p:txBody>
      </p:sp>
      <p:sp>
        <p:nvSpPr>
          <p:cNvPr id="11" name="구분 번호원 22"/>
          <p:cNvSpPr/>
          <p:nvPr/>
        </p:nvSpPr>
        <p:spPr>
          <a:xfrm>
            <a:off x="6812280" y="228600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구분 번호 22"/>
          <p:cNvSpPr txBox="1"/>
          <p:nvPr/>
        </p:nvSpPr>
        <p:spPr>
          <a:xfrm>
            <a:off x="68122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22</a:t>
            </a:r>
            <a:endParaRPr lang="en-US" sz="1400" dirty="0"/>
          </a:p>
        </p:txBody>
      </p:sp>
      <p:sp>
        <p:nvSpPr>
          <p:cNvPr id="13" name="구분 사례명 22"/>
          <p:cNvSpPr txBox="1"/>
          <p:nvPr/>
        </p:nvSpPr>
        <p:spPr>
          <a:xfrm>
            <a:off x="7589520" y="228600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운동·식단 기록 트래커</a:t>
            </a:r>
            <a:endParaRPr lang="en-US" sz="1600" dirty="0"/>
          </a:p>
        </p:txBody>
      </p:sp>
      <p:sp>
        <p:nvSpPr>
          <p:cNvPr id="14" name="구분 번호원 23"/>
          <p:cNvSpPr/>
          <p:nvPr/>
        </p:nvSpPr>
        <p:spPr>
          <a:xfrm>
            <a:off x="6812280" y="315468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구분 번호 23"/>
          <p:cNvSpPr txBox="1"/>
          <p:nvPr/>
        </p:nvSpPr>
        <p:spPr>
          <a:xfrm>
            <a:off x="681228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23</a:t>
            </a:r>
            <a:endParaRPr lang="en-US" sz="1400" dirty="0"/>
          </a:p>
        </p:txBody>
      </p:sp>
      <p:sp>
        <p:nvSpPr>
          <p:cNvPr id="16" name="구분 사례명 23"/>
          <p:cNvSpPr txBox="1"/>
          <p:nvPr/>
        </p:nvSpPr>
        <p:spPr>
          <a:xfrm>
            <a:off x="7589520" y="315468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여행 일정 + 예산 플래너</a:t>
            </a:r>
            <a:endParaRPr lang="en-US" sz="1600" dirty="0"/>
          </a:p>
        </p:txBody>
      </p:sp>
      <p:sp>
        <p:nvSpPr>
          <p:cNvPr id="17" name="구분 번호원 24"/>
          <p:cNvSpPr/>
          <p:nvPr/>
        </p:nvSpPr>
        <p:spPr>
          <a:xfrm>
            <a:off x="6812280" y="40233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구분 번호 24"/>
          <p:cNvSpPr txBox="1"/>
          <p:nvPr/>
        </p:nvSpPr>
        <p:spPr>
          <a:xfrm>
            <a:off x="681228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24</a:t>
            </a:r>
            <a:endParaRPr lang="en-US" sz="1400" dirty="0"/>
          </a:p>
        </p:txBody>
      </p:sp>
      <p:sp>
        <p:nvSpPr>
          <p:cNvPr id="19" name="구분 사례명 24"/>
          <p:cNvSpPr txBox="1"/>
          <p:nvPr/>
        </p:nvSpPr>
        <p:spPr>
          <a:xfrm>
            <a:off x="7589520" y="402336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말하듯 적은 메모 → 할 일 정리</a:t>
            </a:r>
            <a:endParaRPr lang="en-US" sz="1600" dirty="0"/>
          </a:p>
        </p:txBody>
      </p:sp>
      <p:sp>
        <p:nvSpPr>
          <p:cNvPr id="20" name="구분 번호원 25"/>
          <p:cNvSpPr/>
          <p:nvPr/>
        </p:nvSpPr>
        <p:spPr>
          <a:xfrm>
            <a:off x="6812280" y="489204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구분 번호 25"/>
          <p:cNvSpPr txBox="1"/>
          <p:nvPr/>
        </p:nvSpPr>
        <p:spPr>
          <a:xfrm>
            <a:off x="681228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25</a:t>
            </a:r>
            <a:endParaRPr lang="en-US" sz="1400" dirty="0"/>
          </a:p>
        </p:txBody>
      </p:sp>
      <p:sp>
        <p:nvSpPr>
          <p:cNvPr id="22" name="구분 사례명 25"/>
          <p:cNvSpPr txBox="1"/>
          <p:nvPr/>
        </p:nvSpPr>
        <p:spPr>
          <a:xfrm>
            <a:off x="7589520" y="489204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내 메모·독서노트 검색창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테마칩"/>
          <p:cNvSpPr/>
          <p:nvPr/>
        </p:nvSpPr>
        <p:spPr>
          <a:xfrm>
            <a:off x="1600200" y="329184"/>
            <a:ext cx="2656332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" name="테마칩 글자"/>
          <p:cNvSpPr txBox="1"/>
          <p:nvPr/>
        </p:nvSpPr>
        <p:spPr>
          <a:xfrm>
            <a:off x="1600200" y="329184"/>
            <a:ext cx="26563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 · 개인 생활·재테크</a:t>
            </a:r>
            <a:endParaRPr lang="en-US" sz="1200" dirty="0"/>
          </a:p>
        </p:txBody>
      </p:sp>
      <p:sp>
        <p:nvSpPr>
          <p:cNvPr id="4" name="진행 번호"/>
          <p:cNvSpPr txBox="1"/>
          <p:nvPr/>
        </p:nvSpPr>
        <p:spPr>
          <a:xfrm>
            <a:off x="9811512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21 / 35</a:t>
            </a:r>
            <a:endParaRPr lang="en-US" sz="1200" dirty="0"/>
          </a:p>
        </p:txBody>
      </p:sp>
      <p:sp>
        <p:nvSpPr>
          <p:cNvPr id="5" name="번호원"/>
          <p:cNvSpPr/>
          <p:nvPr/>
        </p:nvSpPr>
        <p:spPr>
          <a:xfrm>
            <a:off x="548640" y="658368"/>
            <a:ext cx="822960" cy="8229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번호"/>
          <p:cNvSpPr txBox="1"/>
          <p:nvPr/>
        </p:nvSpPr>
        <p:spPr>
          <a:xfrm>
            <a:off x="548640" y="6583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21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1600200" y="65836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카드 내역 가계부 자동 분석</a:t>
            </a:r>
            <a:endParaRPr lang="en-US" sz="3000" dirty="0"/>
          </a:p>
        </p:txBody>
      </p:sp>
      <p:sp>
        <p:nvSpPr>
          <p:cNvPr id="8" name="의도 라벨"/>
          <p:cNvSpPr txBox="1"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의도</a:t>
            </a:r>
            <a:endParaRPr lang="en-US" sz="1200" dirty="0"/>
          </a:p>
        </p:txBody>
      </p:sp>
      <p:sp>
        <p:nvSpPr>
          <p:cNvPr id="9" name="의도"/>
          <p:cNvSpPr txBox="1"/>
          <p:nvPr/>
        </p:nvSpPr>
        <p:spPr>
          <a:xfrm>
            <a:off x="54864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카드 이용내역 파일 하나로 소비 패턴과 '이번 달 많이 늘어난 지출'을 알려준다.</a:t>
            </a:r>
            <a:endParaRPr lang="en-US" sz="1600" dirty="0"/>
          </a:p>
        </p:txBody>
      </p:sp>
      <p:sp>
        <p:nvSpPr>
          <p:cNvPr id="10" name="노하우 카드"/>
          <p:cNvSpPr/>
          <p:nvPr/>
        </p:nvSpPr>
        <p:spPr>
          <a:xfrm>
            <a:off x="548640" y="3611880"/>
            <a:ext cx="457200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노하우 라벨"/>
          <p:cNvSpPr txBox="1"/>
          <p:nvPr/>
        </p:nvSpPr>
        <p:spPr>
          <a:xfrm>
            <a:off x="7772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노하우</a:t>
            </a:r>
            <a:endParaRPr lang="en-US" sz="1200" dirty="0"/>
          </a:p>
        </p:txBody>
      </p:sp>
      <p:sp>
        <p:nvSpPr>
          <p:cNvPr id="12" name="노하우"/>
          <p:cNvSpPr txBox="1"/>
          <p:nvPr/>
        </p:nvSpPr>
        <p:spPr>
          <a:xfrm>
            <a:off x="777240" y="406908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금융 정보는 '내 컴퓨터 밖으로 보내지 않게'를 조건으로 거세요. 실제 값은 가리고 시험한 뒤 사용하세요.</a:t>
            </a:r>
            <a:endParaRPr lang="en-US" sz="1400" dirty="0"/>
          </a:p>
        </p:txBody>
      </p:sp>
      <p:sp>
        <p:nvSpPr>
          <p:cNvPr id="13" name="스크립트 카드"/>
          <p:cNvSpPr/>
          <p:nvPr/>
        </p:nvSpPr>
        <p:spPr>
          <a:xfrm>
            <a:off x="5440680" y="1737360"/>
            <a:ext cx="6199632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스크립트 라벨"/>
          <p:cNvSpPr txBox="1"/>
          <p:nvPr/>
        </p:nvSpPr>
        <p:spPr>
          <a:xfrm>
            <a:off x="5715000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AI에게 이렇게 시키세요</a:t>
            </a:r>
            <a:endParaRPr lang="en-US" sz="1200" dirty="0"/>
          </a:p>
        </p:txBody>
      </p:sp>
      <p:sp>
        <p:nvSpPr>
          <p:cNvPr id="15" name="스크립트"/>
          <p:cNvSpPr txBox="1"/>
          <p:nvPr/>
        </p:nvSpPr>
        <p:spPr>
          <a:xfrm>
            <a:off x="5715000" y="2286000"/>
            <a:ext cx="5669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카드사에서 받은 이용내역 CSV를 읽어서 가맹점 이름으로 식비/교통/구독/쇼핑으로 자동 분류해줘.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월별 카테고리 합계 도넛 차트와 '지난달 대비 많이 늘어난 항목 3개'를 보여줘.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자료는 내 컴퓨터 밖으로 전송하지 않게 만들어줘.</a:t>
            </a:r>
            <a:endParaRPr lang="en-US" sz="1500" dirty="0"/>
          </a:p>
        </p:txBody>
      </p:sp>
      <p:sp>
        <p:nvSpPr>
          <p:cNvPr id="16" name="사례21 용어 배경"/>
          <p:cNvSpPr/>
          <p:nvPr/>
        </p:nvSpPr>
        <p:spPr>
          <a:xfrm>
            <a:off x="548640" y="5943600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사례21 용어"/>
          <p:cNvSpPr txBox="1"/>
          <p:nvPr/>
        </p:nvSpPr>
        <p:spPr>
          <a:xfrm>
            <a:off x="731520" y="5961888"/>
            <a:ext cx="1072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※ 용어 참고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가맹점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카드를 결제한 가게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구독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매달 자동으로 나가는 정기결제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도넛 차트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비율을 고리 모양으로 보여주는 그래프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테마칩"/>
          <p:cNvSpPr/>
          <p:nvPr/>
        </p:nvSpPr>
        <p:spPr>
          <a:xfrm>
            <a:off x="1600200" y="329184"/>
            <a:ext cx="2656332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" name="테마칩 글자"/>
          <p:cNvSpPr txBox="1"/>
          <p:nvPr/>
        </p:nvSpPr>
        <p:spPr>
          <a:xfrm>
            <a:off x="1600200" y="329184"/>
            <a:ext cx="26563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 · 개인 생활·재테크</a:t>
            </a:r>
            <a:endParaRPr lang="en-US" sz="1200" dirty="0"/>
          </a:p>
        </p:txBody>
      </p:sp>
      <p:sp>
        <p:nvSpPr>
          <p:cNvPr id="4" name="진행 번호"/>
          <p:cNvSpPr txBox="1"/>
          <p:nvPr/>
        </p:nvSpPr>
        <p:spPr>
          <a:xfrm>
            <a:off x="9811512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22 / 35</a:t>
            </a:r>
            <a:endParaRPr lang="en-US" sz="1200" dirty="0"/>
          </a:p>
        </p:txBody>
      </p:sp>
      <p:sp>
        <p:nvSpPr>
          <p:cNvPr id="5" name="번호원"/>
          <p:cNvSpPr/>
          <p:nvPr/>
        </p:nvSpPr>
        <p:spPr>
          <a:xfrm>
            <a:off x="548640" y="658368"/>
            <a:ext cx="822960" cy="8229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번호"/>
          <p:cNvSpPr txBox="1"/>
          <p:nvPr/>
        </p:nvSpPr>
        <p:spPr>
          <a:xfrm>
            <a:off x="548640" y="6583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22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1600200" y="65836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운동·식단 기록 트래커</a:t>
            </a:r>
            <a:endParaRPr lang="en-US" sz="3000" dirty="0"/>
          </a:p>
        </p:txBody>
      </p:sp>
      <p:sp>
        <p:nvSpPr>
          <p:cNvPr id="8" name="의도 라벨"/>
          <p:cNvSpPr txBox="1"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의도</a:t>
            </a:r>
            <a:endParaRPr lang="en-US" sz="1200" dirty="0"/>
          </a:p>
        </p:txBody>
      </p:sp>
      <p:sp>
        <p:nvSpPr>
          <p:cNvPr id="9" name="의도"/>
          <p:cNvSpPr txBox="1"/>
          <p:nvPr/>
        </p:nvSpPr>
        <p:spPr>
          <a:xfrm>
            <a:off x="54864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작심삼일을 막기 위해 기록·그래프·응원 문구가 나오는 나만의 앱을 만든다.</a:t>
            </a:r>
            <a:endParaRPr lang="en-US" sz="1600" dirty="0"/>
          </a:p>
        </p:txBody>
      </p:sp>
      <p:sp>
        <p:nvSpPr>
          <p:cNvPr id="10" name="노하우 카드"/>
          <p:cNvSpPr/>
          <p:nvPr/>
        </p:nvSpPr>
        <p:spPr>
          <a:xfrm>
            <a:off x="548640" y="3611880"/>
            <a:ext cx="457200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노하우 라벨"/>
          <p:cNvSpPr txBox="1"/>
          <p:nvPr/>
        </p:nvSpPr>
        <p:spPr>
          <a:xfrm>
            <a:off x="7772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노하우</a:t>
            </a:r>
            <a:endParaRPr lang="en-US" sz="1200" dirty="0"/>
          </a:p>
        </p:txBody>
      </p:sp>
      <p:sp>
        <p:nvSpPr>
          <p:cNvPr id="12" name="노하우"/>
          <p:cNvSpPr txBox="1"/>
          <p:nvPr/>
        </p:nvSpPr>
        <p:spPr>
          <a:xfrm>
            <a:off x="777240" y="406908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폰 홈 화면에 바로가기를 추가하면 앱처럼 쓸 수 있습니다. 먼저 '폰 화면에 맞게'라고 요청하세요.</a:t>
            </a:r>
            <a:endParaRPr lang="en-US" sz="1400" dirty="0"/>
          </a:p>
        </p:txBody>
      </p:sp>
      <p:sp>
        <p:nvSpPr>
          <p:cNvPr id="13" name="스크립트 카드"/>
          <p:cNvSpPr/>
          <p:nvPr/>
        </p:nvSpPr>
        <p:spPr>
          <a:xfrm>
            <a:off x="5440680" y="1737360"/>
            <a:ext cx="6199632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스크립트 라벨"/>
          <p:cNvSpPr txBox="1"/>
          <p:nvPr/>
        </p:nvSpPr>
        <p:spPr>
          <a:xfrm>
            <a:off x="5715000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AI에게 이렇게 시키세요</a:t>
            </a:r>
            <a:endParaRPr lang="en-US" sz="1200" dirty="0"/>
          </a:p>
        </p:txBody>
      </p:sp>
      <p:sp>
        <p:nvSpPr>
          <p:cNvPr id="15" name="스크립트"/>
          <p:cNvSpPr txBox="1"/>
          <p:nvPr/>
        </p:nvSpPr>
        <p:spPr>
          <a:xfrm>
            <a:off x="5715000" y="2286000"/>
            <a:ext cx="5669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하루 운동 시간, 걸음 수, 체중, 식사 메모를 입력하면 주간 그래프로 보여주는 폰용 웹페이지를 만들어줘.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3일 연속 기록이 없으면 화면 맨 위에 응원 문구가 뜨게 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데이터는 폰 브라우저에 저장해줘.</a:t>
            </a:r>
            <a:endParaRPr lang="en-US" sz="1500" dirty="0"/>
          </a:p>
        </p:txBody>
      </p:sp>
      <p:sp>
        <p:nvSpPr>
          <p:cNvPr id="16" name="사례22 용어 배경"/>
          <p:cNvSpPr/>
          <p:nvPr/>
        </p:nvSpPr>
        <p:spPr>
          <a:xfrm>
            <a:off x="548640" y="5943600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사례22 용어"/>
          <p:cNvSpPr txBox="1"/>
          <p:nvPr/>
        </p:nvSpPr>
        <p:spPr>
          <a:xfrm>
            <a:off x="731520" y="5961888"/>
            <a:ext cx="1072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※ 용어 참고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폰용(반응형)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화면 크기에 맞춰 모양이 자동으로 바뀌는 방식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트래커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기록을 쌓고 추이를 보는 도구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테마칩"/>
          <p:cNvSpPr/>
          <p:nvPr/>
        </p:nvSpPr>
        <p:spPr>
          <a:xfrm>
            <a:off x="1600200" y="329184"/>
            <a:ext cx="2656332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" name="테마칩 글자"/>
          <p:cNvSpPr txBox="1"/>
          <p:nvPr/>
        </p:nvSpPr>
        <p:spPr>
          <a:xfrm>
            <a:off x="1600200" y="329184"/>
            <a:ext cx="26563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 · 개인 생활·재테크</a:t>
            </a:r>
            <a:endParaRPr lang="en-US" sz="1200" dirty="0"/>
          </a:p>
        </p:txBody>
      </p:sp>
      <p:sp>
        <p:nvSpPr>
          <p:cNvPr id="4" name="진행 번호"/>
          <p:cNvSpPr txBox="1"/>
          <p:nvPr/>
        </p:nvSpPr>
        <p:spPr>
          <a:xfrm>
            <a:off x="9811512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23 / 35</a:t>
            </a:r>
            <a:endParaRPr lang="en-US" sz="1200" dirty="0"/>
          </a:p>
        </p:txBody>
      </p:sp>
      <p:sp>
        <p:nvSpPr>
          <p:cNvPr id="5" name="번호원"/>
          <p:cNvSpPr/>
          <p:nvPr/>
        </p:nvSpPr>
        <p:spPr>
          <a:xfrm>
            <a:off x="548640" y="658368"/>
            <a:ext cx="822960" cy="8229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번호"/>
          <p:cNvSpPr txBox="1"/>
          <p:nvPr/>
        </p:nvSpPr>
        <p:spPr>
          <a:xfrm>
            <a:off x="548640" y="6583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23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1600200" y="65836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여행 일정 + 예산 플래너</a:t>
            </a:r>
            <a:endParaRPr lang="en-US" sz="3000" dirty="0"/>
          </a:p>
        </p:txBody>
      </p:sp>
      <p:sp>
        <p:nvSpPr>
          <p:cNvPr id="8" name="의도 라벨"/>
          <p:cNvSpPr txBox="1"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의도</a:t>
            </a:r>
            <a:endParaRPr lang="en-US" sz="1200" dirty="0"/>
          </a:p>
        </p:txBody>
      </p:sp>
      <p:sp>
        <p:nvSpPr>
          <p:cNvPr id="9" name="의도"/>
          <p:cNvSpPr txBox="1"/>
          <p:nvPr/>
        </p:nvSpPr>
        <p:spPr>
          <a:xfrm>
            <a:off x="54864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일정표와 비용 계산을 한 화면에서 해서 환율·예산 계산 실수를 없앤다.</a:t>
            </a:r>
            <a:endParaRPr lang="en-US" sz="1600" dirty="0"/>
          </a:p>
        </p:txBody>
      </p:sp>
      <p:sp>
        <p:nvSpPr>
          <p:cNvPr id="10" name="노하우 카드"/>
          <p:cNvSpPr/>
          <p:nvPr/>
        </p:nvSpPr>
        <p:spPr>
          <a:xfrm>
            <a:off x="548640" y="3611880"/>
            <a:ext cx="457200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노하우 라벨"/>
          <p:cNvSpPr txBox="1"/>
          <p:nvPr/>
        </p:nvSpPr>
        <p:spPr>
          <a:xfrm>
            <a:off x="7772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노하우</a:t>
            </a:r>
            <a:endParaRPr lang="en-US" sz="1200" dirty="0"/>
          </a:p>
        </p:txBody>
      </p:sp>
      <p:sp>
        <p:nvSpPr>
          <p:cNvPr id="12" name="노하우"/>
          <p:cNvSpPr txBox="1"/>
          <p:nvPr/>
        </p:nvSpPr>
        <p:spPr>
          <a:xfrm>
            <a:off x="777240" y="406908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환율은 '입력창으로 직접 수정'하게 하세요. 오늘 환율을 AI가 알 수 없으니 틀린 값이 박히는 일을 막습니다.</a:t>
            </a:r>
            <a:endParaRPr lang="en-US" sz="1400" dirty="0"/>
          </a:p>
        </p:txBody>
      </p:sp>
      <p:sp>
        <p:nvSpPr>
          <p:cNvPr id="13" name="스크립트 카드"/>
          <p:cNvSpPr/>
          <p:nvPr/>
        </p:nvSpPr>
        <p:spPr>
          <a:xfrm>
            <a:off x="5440680" y="1737360"/>
            <a:ext cx="6199632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스크립트 라벨"/>
          <p:cNvSpPr txBox="1"/>
          <p:nvPr/>
        </p:nvSpPr>
        <p:spPr>
          <a:xfrm>
            <a:off x="5715000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AI에게 이렇게 시키세요</a:t>
            </a:r>
            <a:endParaRPr lang="en-US" sz="1200" dirty="0"/>
          </a:p>
        </p:txBody>
      </p:sp>
      <p:sp>
        <p:nvSpPr>
          <p:cNvPr id="15" name="스크립트"/>
          <p:cNvSpPr txBox="1"/>
          <p:nvPr/>
        </p:nvSpPr>
        <p:spPr>
          <a:xfrm>
            <a:off x="5715000" y="2286000"/>
            <a:ext cx="5669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3박 4일 일본 여행 일정표 웹페이지를 만들어줘.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날짜별 시간표, 이동 수단, 예상 비용(엔과 원 환산)을 표로 정리해줘.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환율은 입력창으로 내가 직접 고치게 하고, 총예산 대비 남은 금액이 바로 보이게 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인쇄용 화면도 넣어줘.</a:t>
            </a:r>
            <a:endParaRPr lang="en-US" sz="1500" dirty="0"/>
          </a:p>
        </p:txBody>
      </p:sp>
      <p:sp>
        <p:nvSpPr>
          <p:cNvPr id="16" name="사례23 용어 배경"/>
          <p:cNvSpPr/>
          <p:nvPr/>
        </p:nvSpPr>
        <p:spPr>
          <a:xfrm>
            <a:off x="548640" y="5943600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사례23 용어"/>
          <p:cNvSpPr txBox="1"/>
          <p:nvPr/>
        </p:nvSpPr>
        <p:spPr>
          <a:xfrm>
            <a:off x="731520" y="5961888"/>
            <a:ext cx="1072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※ 용어 참고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환산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한 나라 돈을 다른 나라 돈으로 바꿔 계산하는 것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실시간 계산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입력값을 바꾸면 결과도 바로 바뀌는 것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테마칩"/>
          <p:cNvSpPr/>
          <p:nvPr/>
        </p:nvSpPr>
        <p:spPr>
          <a:xfrm>
            <a:off x="1600200" y="329184"/>
            <a:ext cx="2656332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" name="테마칩 글자"/>
          <p:cNvSpPr txBox="1"/>
          <p:nvPr/>
        </p:nvSpPr>
        <p:spPr>
          <a:xfrm>
            <a:off x="1600200" y="329184"/>
            <a:ext cx="26563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 · 개인 생활·재테크</a:t>
            </a:r>
            <a:endParaRPr lang="en-US" sz="1200" dirty="0"/>
          </a:p>
        </p:txBody>
      </p:sp>
      <p:sp>
        <p:nvSpPr>
          <p:cNvPr id="4" name="진행 번호"/>
          <p:cNvSpPr txBox="1"/>
          <p:nvPr/>
        </p:nvSpPr>
        <p:spPr>
          <a:xfrm>
            <a:off x="9811512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24 / 35</a:t>
            </a:r>
            <a:endParaRPr lang="en-US" sz="1200" dirty="0"/>
          </a:p>
        </p:txBody>
      </p:sp>
      <p:sp>
        <p:nvSpPr>
          <p:cNvPr id="5" name="번호원"/>
          <p:cNvSpPr/>
          <p:nvPr/>
        </p:nvSpPr>
        <p:spPr>
          <a:xfrm>
            <a:off x="548640" y="658368"/>
            <a:ext cx="822960" cy="8229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번호"/>
          <p:cNvSpPr txBox="1"/>
          <p:nvPr/>
        </p:nvSpPr>
        <p:spPr>
          <a:xfrm>
            <a:off x="548640" y="6583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24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1600200" y="65836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말하듯 적은 메모 → 할 일 정리</a:t>
            </a:r>
            <a:endParaRPr lang="en-US" sz="3000" dirty="0"/>
          </a:p>
        </p:txBody>
      </p:sp>
      <p:sp>
        <p:nvSpPr>
          <p:cNvPr id="8" name="의도 라벨"/>
          <p:cNvSpPr txBox="1"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의도</a:t>
            </a:r>
            <a:endParaRPr lang="en-US" sz="1200" dirty="0"/>
          </a:p>
        </p:txBody>
      </p:sp>
      <p:sp>
        <p:nvSpPr>
          <p:cNvPr id="9" name="의도"/>
          <p:cNvSpPr txBox="1"/>
          <p:nvPr/>
        </p:nvSpPr>
        <p:spPr>
          <a:xfrm>
            <a:off x="54864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머릿속 잡다한 생각을 쏟아내면 오늘·이번 주·언젠가로 자동 분류해준다.</a:t>
            </a:r>
            <a:endParaRPr lang="en-US" sz="1600" dirty="0"/>
          </a:p>
        </p:txBody>
      </p:sp>
      <p:sp>
        <p:nvSpPr>
          <p:cNvPr id="10" name="노하우 카드"/>
          <p:cNvSpPr/>
          <p:nvPr/>
        </p:nvSpPr>
        <p:spPr>
          <a:xfrm>
            <a:off x="548640" y="3611880"/>
            <a:ext cx="457200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노하우 라벨"/>
          <p:cNvSpPr txBox="1"/>
          <p:nvPr/>
        </p:nvSpPr>
        <p:spPr>
          <a:xfrm>
            <a:off x="7772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노하우</a:t>
            </a:r>
            <a:endParaRPr lang="en-US" sz="1200" dirty="0"/>
          </a:p>
        </p:txBody>
      </p:sp>
      <p:sp>
        <p:nvSpPr>
          <p:cNvPr id="12" name="노하우"/>
          <p:cNvSpPr txBox="1"/>
          <p:nvPr/>
        </p:nvSpPr>
        <p:spPr>
          <a:xfrm>
            <a:off x="777240" y="406908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정리 기준을 말해주세요('급한 순'). 마이크 입력을 요청하면 이동 중에도 말로 쓸 수 있습니다.</a:t>
            </a:r>
            <a:endParaRPr lang="en-US" sz="1400" dirty="0"/>
          </a:p>
        </p:txBody>
      </p:sp>
      <p:sp>
        <p:nvSpPr>
          <p:cNvPr id="13" name="스크립트 카드"/>
          <p:cNvSpPr/>
          <p:nvPr/>
        </p:nvSpPr>
        <p:spPr>
          <a:xfrm>
            <a:off x="5440680" y="1737360"/>
            <a:ext cx="6199632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스크립트 라벨"/>
          <p:cNvSpPr txBox="1"/>
          <p:nvPr/>
        </p:nvSpPr>
        <p:spPr>
          <a:xfrm>
            <a:off x="5715000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AI에게 이렇게 시키세요</a:t>
            </a:r>
            <a:endParaRPr lang="en-US" sz="1200" dirty="0"/>
          </a:p>
        </p:txBody>
      </p:sp>
      <p:sp>
        <p:nvSpPr>
          <p:cNvPr id="15" name="스크립트"/>
          <p:cNvSpPr txBox="1"/>
          <p:nvPr/>
        </p:nvSpPr>
        <p:spPr>
          <a:xfrm>
            <a:off x="5715000" y="2286000"/>
            <a:ext cx="5669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내가 두서없이 적은 메모를 붙여넣으면 ①오늘 할 일 ②이번 주 ③언젠가 ④그냥 생각으로 분류하고 급한 순서로 정렬해주는 도구를 만들어줘.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마이크 버튼을 눌러 말로도 입력할 수 있게 해줘.</a:t>
            </a:r>
            <a:endParaRPr lang="en-US" sz="1500" dirty="0"/>
          </a:p>
        </p:txBody>
      </p:sp>
      <p:sp>
        <p:nvSpPr>
          <p:cNvPr id="16" name="사례24 용어 배경"/>
          <p:cNvSpPr/>
          <p:nvPr/>
        </p:nvSpPr>
        <p:spPr>
          <a:xfrm>
            <a:off x="548640" y="5943600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사례24 용어"/>
          <p:cNvSpPr txBox="1"/>
          <p:nvPr/>
        </p:nvSpPr>
        <p:spPr>
          <a:xfrm>
            <a:off x="731520" y="5961888"/>
            <a:ext cx="1072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※ 용어 참고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음성 인식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말소리를 글자로 바꾸는 기능(브라우저에 기본 내장)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분류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성격이 같은 것끼리 묶기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테마칩"/>
          <p:cNvSpPr/>
          <p:nvPr/>
        </p:nvSpPr>
        <p:spPr>
          <a:xfrm>
            <a:off x="1600200" y="329184"/>
            <a:ext cx="2656332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" name="테마칩 글자"/>
          <p:cNvSpPr txBox="1"/>
          <p:nvPr/>
        </p:nvSpPr>
        <p:spPr>
          <a:xfrm>
            <a:off x="1600200" y="329184"/>
            <a:ext cx="26563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 · 개인 생활·재테크</a:t>
            </a:r>
            <a:endParaRPr lang="en-US" sz="1200" dirty="0"/>
          </a:p>
        </p:txBody>
      </p:sp>
      <p:sp>
        <p:nvSpPr>
          <p:cNvPr id="4" name="진행 번호"/>
          <p:cNvSpPr txBox="1"/>
          <p:nvPr/>
        </p:nvSpPr>
        <p:spPr>
          <a:xfrm>
            <a:off x="9811512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25 / 35</a:t>
            </a:r>
            <a:endParaRPr lang="en-US" sz="1200" dirty="0"/>
          </a:p>
        </p:txBody>
      </p:sp>
      <p:sp>
        <p:nvSpPr>
          <p:cNvPr id="5" name="번호원"/>
          <p:cNvSpPr/>
          <p:nvPr/>
        </p:nvSpPr>
        <p:spPr>
          <a:xfrm>
            <a:off x="548640" y="658368"/>
            <a:ext cx="822960" cy="8229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번호"/>
          <p:cNvSpPr txBox="1"/>
          <p:nvPr/>
        </p:nvSpPr>
        <p:spPr>
          <a:xfrm>
            <a:off x="548640" y="6583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25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1600200" y="65836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내 메모·독서노트 검색창</a:t>
            </a:r>
            <a:endParaRPr lang="en-US" sz="3000" dirty="0"/>
          </a:p>
        </p:txBody>
      </p:sp>
      <p:sp>
        <p:nvSpPr>
          <p:cNvPr id="8" name="의도 라벨"/>
          <p:cNvSpPr txBox="1"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의도</a:t>
            </a:r>
            <a:endParaRPr lang="en-US" sz="1200" dirty="0"/>
          </a:p>
        </p:txBody>
      </p:sp>
      <p:sp>
        <p:nvSpPr>
          <p:cNvPr id="9" name="의도"/>
          <p:cNvSpPr txBox="1"/>
          <p:nvPr/>
        </p:nvSpPr>
        <p:spPr>
          <a:xfrm>
            <a:off x="54864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흩어진 메모 파일에서 키워드 하나로 필요한 문장을 바로 찾는다.</a:t>
            </a:r>
            <a:endParaRPr lang="en-US" sz="1600" dirty="0"/>
          </a:p>
        </p:txBody>
      </p:sp>
      <p:sp>
        <p:nvSpPr>
          <p:cNvPr id="10" name="노하우 카드"/>
          <p:cNvSpPr/>
          <p:nvPr/>
        </p:nvSpPr>
        <p:spPr>
          <a:xfrm>
            <a:off x="548640" y="3611880"/>
            <a:ext cx="457200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노하우 라벨"/>
          <p:cNvSpPr txBox="1"/>
          <p:nvPr/>
        </p:nvSpPr>
        <p:spPr>
          <a:xfrm>
            <a:off x="7772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노하우</a:t>
            </a:r>
            <a:endParaRPr lang="en-US" sz="1200" dirty="0"/>
          </a:p>
        </p:txBody>
      </p:sp>
      <p:sp>
        <p:nvSpPr>
          <p:cNvPr id="12" name="노하우"/>
          <p:cNvSpPr txBox="1"/>
          <p:nvPr/>
        </p:nvSpPr>
        <p:spPr>
          <a:xfrm>
            <a:off x="777240" y="406908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'태그별 모아보기'를 함께 요청하세요. 메모가 늘어도 정리가 되고, 찾는 시간이 크게 줄어듭니다.</a:t>
            </a:r>
            <a:endParaRPr lang="en-US" sz="1400" dirty="0"/>
          </a:p>
        </p:txBody>
      </p:sp>
      <p:sp>
        <p:nvSpPr>
          <p:cNvPr id="13" name="스크립트 카드"/>
          <p:cNvSpPr/>
          <p:nvPr/>
        </p:nvSpPr>
        <p:spPr>
          <a:xfrm>
            <a:off x="5440680" y="1737360"/>
            <a:ext cx="6199632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스크립트 라벨"/>
          <p:cNvSpPr txBox="1"/>
          <p:nvPr/>
        </p:nvSpPr>
        <p:spPr>
          <a:xfrm>
            <a:off x="5715000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AI에게 이렇게 시키세요</a:t>
            </a:r>
            <a:endParaRPr lang="en-US" sz="1200" dirty="0"/>
          </a:p>
        </p:txBody>
      </p:sp>
      <p:sp>
        <p:nvSpPr>
          <p:cNvPr id="15" name="스크립트"/>
          <p:cNvSpPr txBox="1"/>
          <p:nvPr/>
        </p:nvSpPr>
        <p:spPr>
          <a:xfrm>
            <a:off x="5715000" y="2286000"/>
            <a:ext cx="5669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내가 모아둔 텍스트 메모 파일들(폴더 하나)을 읽어서, 키워드를 입력하면 관련 메모를 제목과 해당 문장으로 보여주는 검색 페이지를 만들어줘.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메모 안의 #태그를 인식해서 태그별로 모아보는 기능도 넣어줘.</a:t>
            </a:r>
            <a:endParaRPr lang="en-US" sz="1500" dirty="0"/>
          </a:p>
        </p:txBody>
      </p:sp>
      <p:sp>
        <p:nvSpPr>
          <p:cNvPr id="16" name="사례25 용어 배경"/>
          <p:cNvSpPr/>
          <p:nvPr/>
        </p:nvSpPr>
        <p:spPr>
          <a:xfrm>
            <a:off x="548640" y="5943600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사례25 용어"/>
          <p:cNvSpPr txBox="1"/>
          <p:nvPr/>
        </p:nvSpPr>
        <p:spPr>
          <a:xfrm>
            <a:off x="731520" y="5961888"/>
            <a:ext cx="1072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※ 용어 참고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태그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글에 붙이는 분류용 단어(예: #독서)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색인(인덱스)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검색을 빠르게 하려고 미리 만들어둔 목차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구분 아이콘 원"/>
          <p:cNvSpPr/>
          <p:nvPr/>
        </p:nvSpPr>
        <p:spPr>
          <a:xfrm>
            <a:off x="822960" y="1371600"/>
            <a:ext cx="1554480" cy="15544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" name="Image 0" descr="부업·성장·재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828800"/>
            <a:ext cx="640080" cy="640080"/>
          </a:xfrm>
          <a:prstGeom prst="rect">
            <a:avLst/>
          </a:prstGeom>
        </p:spPr>
      </p:pic>
      <p:sp>
        <p:nvSpPr>
          <p:cNvPr id="4" name="구분 라벨"/>
          <p:cNvSpPr txBox="1"/>
          <p:nvPr/>
        </p:nvSpPr>
        <p:spPr>
          <a:xfrm>
            <a:off x="822960" y="2926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THEME F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32461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부업·성장·재미</a:t>
            </a:r>
            <a:endParaRPr lang="en-US" sz="4000" dirty="0"/>
          </a:p>
        </p:txBody>
      </p:sp>
      <p:sp>
        <p:nvSpPr>
          <p:cNvPr id="6" name="구분 설명"/>
          <p:cNvSpPr txBox="1"/>
          <p:nvPr/>
        </p:nvSpPr>
        <p:spPr>
          <a:xfrm>
            <a:off x="822960" y="42519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나를 알리고, 공부하고, 신기한 걸 만들어보기</a:t>
            </a:r>
            <a:endParaRPr lang="en-US" sz="1800" dirty="0"/>
          </a:p>
        </p:txBody>
      </p:sp>
      <p:sp>
        <p:nvSpPr>
          <p:cNvPr id="7" name="구분 목록 카드"/>
          <p:cNvSpPr/>
          <p:nvPr/>
        </p:nvSpPr>
        <p:spPr>
          <a:xfrm>
            <a:off x="6492240" y="1097280"/>
            <a:ext cx="5148072" cy="466344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구분 번호원 26"/>
          <p:cNvSpPr/>
          <p:nvPr/>
        </p:nvSpPr>
        <p:spPr>
          <a:xfrm>
            <a:off x="6812280" y="14173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구분 번호 26"/>
          <p:cNvSpPr txBox="1"/>
          <p:nvPr/>
        </p:nvSpPr>
        <p:spPr>
          <a:xfrm>
            <a:off x="68122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26</a:t>
            </a:r>
            <a:endParaRPr lang="en-US" sz="1400" dirty="0"/>
          </a:p>
        </p:txBody>
      </p:sp>
      <p:sp>
        <p:nvSpPr>
          <p:cNvPr id="10" name="구분 사례명 26"/>
          <p:cNvSpPr txBox="1"/>
          <p:nvPr/>
        </p:nvSpPr>
        <p:spPr>
          <a:xfrm>
            <a:off x="7589520" y="141732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나만의 포트폴리오·명함 사이트</a:t>
            </a:r>
            <a:endParaRPr lang="en-US" sz="1600" dirty="0"/>
          </a:p>
        </p:txBody>
      </p:sp>
      <p:sp>
        <p:nvSpPr>
          <p:cNvPr id="11" name="구분 번호원 27"/>
          <p:cNvSpPr/>
          <p:nvPr/>
        </p:nvSpPr>
        <p:spPr>
          <a:xfrm>
            <a:off x="6812280" y="228600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구분 번호 27"/>
          <p:cNvSpPr txBox="1"/>
          <p:nvPr/>
        </p:nvSpPr>
        <p:spPr>
          <a:xfrm>
            <a:off x="68122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27</a:t>
            </a:r>
            <a:endParaRPr lang="en-US" sz="1400" dirty="0"/>
          </a:p>
        </p:txBody>
      </p:sp>
      <p:sp>
        <p:nvSpPr>
          <p:cNvPr id="13" name="구분 사례명 27"/>
          <p:cNvSpPr txBox="1"/>
          <p:nvPr/>
        </p:nvSpPr>
        <p:spPr>
          <a:xfrm>
            <a:off x="7589520" y="228600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상세페이지·블로그 글 초안 도구</a:t>
            </a:r>
            <a:endParaRPr lang="en-US" sz="1600" dirty="0"/>
          </a:p>
        </p:txBody>
      </p:sp>
      <p:sp>
        <p:nvSpPr>
          <p:cNvPr id="14" name="구분 번호원 28"/>
          <p:cNvSpPr/>
          <p:nvPr/>
        </p:nvSpPr>
        <p:spPr>
          <a:xfrm>
            <a:off x="6812280" y="315468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구분 번호 28"/>
          <p:cNvSpPr txBox="1"/>
          <p:nvPr/>
        </p:nvSpPr>
        <p:spPr>
          <a:xfrm>
            <a:off x="681228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28</a:t>
            </a:r>
            <a:endParaRPr lang="en-US" sz="1400" dirty="0"/>
          </a:p>
        </p:txBody>
      </p:sp>
      <p:sp>
        <p:nvSpPr>
          <p:cNvPr id="16" name="구분 사례명 28"/>
          <p:cNvSpPr txBox="1"/>
          <p:nvPr/>
        </p:nvSpPr>
        <p:spPr>
          <a:xfrm>
            <a:off x="7589520" y="315468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자격증·영어 공부 퀴즈 앱</a:t>
            </a:r>
            <a:endParaRPr lang="en-US" sz="1600" dirty="0"/>
          </a:p>
        </p:txBody>
      </p:sp>
      <p:sp>
        <p:nvSpPr>
          <p:cNvPr id="17" name="구분 번호원 29"/>
          <p:cNvSpPr/>
          <p:nvPr/>
        </p:nvSpPr>
        <p:spPr>
          <a:xfrm>
            <a:off x="6812280" y="402336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구분 번호 29"/>
          <p:cNvSpPr txBox="1"/>
          <p:nvPr/>
        </p:nvSpPr>
        <p:spPr>
          <a:xfrm>
            <a:off x="681228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29</a:t>
            </a:r>
            <a:endParaRPr lang="en-US" sz="1400" dirty="0"/>
          </a:p>
        </p:txBody>
      </p:sp>
      <p:sp>
        <p:nvSpPr>
          <p:cNvPr id="19" name="구분 사례명 29"/>
          <p:cNvSpPr txBox="1"/>
          <p:nvPr/>
        </p:nvSpPr>
        <p:spPr>
          <a:xfrm>
            <a:off x="7589520" y="402336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아침 브리핑 알림 봇</a:t>
            </a:r>
            <a:endParaRPr lang="en-US" sz="1600" dirty="0"/>
          </a:p>
        </p:txBody>
      </p:sp>
      <p:sp>
        <p:nvSpPr>
          <p:cNvPr id="20" name="구분 번호원 30"/>
          <p:cNvSpPr/>
          <p:nvPr/>
        </p:nvSpPr>
        <p:spPr>
          <a:xfrm>
            <a:off x="6812280" y="489204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구분 번호 30"/>
          <p:cNvSpPr txBox="1"/>
          <p:nvPr/>
        </p:nvSpPr>
        <p:spPr>
          <a:xfrm>
            <a:off x="681228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30</a:t>
            </a:r>
            <a:endParaRPr lang="en-US" sz="1400" dirty="0"/>
          </a:p>
        </p:txBody>
      </p:sp>
      <p:sp>
        <p:nvSpPr>
          <p:cNvPr id="22" name="구분 사례명 30"/>
          <p:cNvSpPr txBox="1"/>
          <p:nvPr/>
        </p:nvSpPr>
        <p:spPr>
          <a:xfrm>
            <a:off x="7589520" y="489204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사내 문서 FAQ 챗봇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테마칩"/>
          <p:cNvSpPr/>
          <p:nvPr/>
        </p:nvSpPr>
        <p:spPr>
          <a:xfrm>
            <a:off x="1600200" y="329184"/>
            <a:ext cx="2487168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" name="테마칩 글자"/>
          <p:cNvSpPr txBox="1"/>
          <p:nvPr/>
        </p:nvSpPr>
        <p:spPr>
          <a:xfrm>
            <a:off x="1600200" y="32918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 · 부업·성장·재미</a:t>
            </a:r>
            <a:endParaRPr lang="en-US" sz="1200" dirty="0"/>
          </a:p>
        </p:txBody>
      </p:sp>
      <p:sp>
        <p:nvSpPr>
          <p:cNvPr id="4" name="진행 번호"/>
          <p:cNvSpPr txBox="1"/>
          <p:nvPr/>
        </p:nvSpPr>
        <p:spPr>
          <a:xfrm>
            <a:off x="9811512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26 / 35</a:t>
            </a:r>
            <a:endParaRPr lang="en-US" sz="1200" dirty="0"/>
          </a:p>
        </p:txBody>
      </p:sp>
      <p:sp>
        <p:nvSpPr>
          <p:cNvPr id="5" name="번호원"/>
          <p:cNvSpPr/>
          <p:nvPr/>
        </p:nvSpPr>
        <p:spPr>
          <a:xfrm>
            <a:off x="548640" y="658368"/>
            <a:ext cx="822960" cy="8229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번호"/>
          <p:cNvSpPr txBox="1"/>
          <p:nvPr/>
        </p:nvSpPr>
        <p:spPr>
          <a:xfrm>
            <a:off x="548640" y="6583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26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1600200" y="65836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나만의 포트폴리오·명함 사이트</a:t>
            </a:r>
            <a:endParaRPr lang="en-US" sz="3000" dirty="0"/>
          </a:p>
        </p:txBody>
      </p:sp>
      <p:sp>
        <p:nvSpPr>
          <p:cNvPr id="8" name="의도 라벨"/>
          <p:cNvSpPr txBox="1"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의도</a:t>
            </a:r>
            <a:endParaRPr lang="en-US" sz="1200" dirty="0"/>
          </a:p>
        </p:txBody>
      </p:sp>
      <p:sp>
        <p:nvSpPr>
          <p:cNvPr id="9" name="의도"/>
          <p:cNvSpPr txBox="1"/>
          <p:nvPr/>
        </p:nvSpPr>
        <p:spPr>
          <a:xfrm>
            <a:off x="54864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이직·부업·네트워킹에 쓸 나를 소개하는 한 장짜리 사이트를 무료로 공개한다.</a:t>
            </a:r>
            <a:endParaRPr lang="en-US" sz="1600" dirty="0"/>
          </a:p>
        </p:txBody>
      </p:sp>
      <p:sp>
        <p:nvSpPr>
          <p:cNvPr id="10" name="노하우 카드"/>
          <p:cNvSpPr/>
          <p:nvPr/>
        </p:nvSpPr>
        <p:spPr>
          <a:xfrm>
            <a:off x="548640" y="3611880"/>
            <a:ext cx="457200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노하우 라벨"/>
          <p:cNvSpPr txBox="1"/>
          <p:nvPr/>
        </p:nvSpPr>
        <p:spPr>
          <a:xfrm>
            <a:off x="7772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노하우</a:t>
            </a:r>
            <a:endParaRPr lang="en-US" sz="1200" dirty="0"/>
          </a:p>
        </p:txBody>
      </p:sp>
      <p:sp>
        <p:nvSpPr>
          <p:cNvPr id="12" name="노하우"/>
          <p:cNvSpPr txBox="1"/>
          <p:nvPr/>
        </p:nvSpPr>
        <p:spPr>
          <a:xfrm>
            <a:off x="777240" y="406908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성과는 반드시 숫자와 함께 적으세요('매출 20% 개선'). 연락처는 공개할 범위를 미리 정해두세요.</a:t>
            </a:r>
            <a:endParaRPr lang="en-US" sz="1400" dirty="0"/>
          </a:p>
        </p:txBody>
      </p:sp>
      <p:sp>
        <p:nvSpPr>
          <p:cNvPr id="13" name="스크립트 카드"/>
          <p:cNvSpPr/>
          <p:nvPr/>
        </p:nvSpPr>
        <p:spPr>
          <a:xfrm>
            <a:off x="5440680" y="1737360"/>
            <a:ext cx="6199632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스크립트 라벨"/>
          <p:cNvSpPr txBox="1"/>
          <p:nvPr/>
        </p:nvSpPr>
        <p:spPr>
          <a:xfrm>
            <a:off x="5715000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AI에게 이렇게 시키세요</a:t>
            </a:r>
            <a:endParaRPr lang="en-US" sz="1200" dirty="0"/>
          </a:p>
        </p:txBody>
      </p:sp>
      <p:sp>
        <p:nvSpPr>
          <p:cNvPr id="15" name="스크립트"/>
          <p:cNvSpPr txBox="1"/>
          <p:nvPr/>
        </p:nvSpPr>
        <p:spPr>
          <a:xfrm>
            <a:off x="5715000" y="2286000"/>
            <a:ext cx="5669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마케터인 나를 소개하는 한 장짜리 사이트를 만들어줘.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이름, 한 줄 소개, 대표 성과 3가지(숫자 포함), 연락처 버튼을 넣어줘. 폰에서도 보기 좋게 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무료로 인터넷에 올리는 방법(GitHub Pages)도 단계별로 알려줘.</a:t>
            </a:r>
            <a:endParaRPr lang="en-US" sz="1500" dirty="0"/>
          </a:p>
        </p:txBody>
      </p:sp>
      <p:sp>
        <p:nvSpPr>
          <p:cNvPr id="16" name="사례26 용어 배경"/>
          <p:cNvSpPr/>
          <p:nvPr/>
        </p:nvSpPr>
        <p:spPr>
          <a:xfrm>
            <a:off x="548640" y="5943600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사례26 용어"/>
          <p:cNvSpPr txBox="1"/>
          <p:nvPr/>
        </p:nvSpPr>
        <p:spPr>
          <a:xfrm>
            <a:off x="731520" y="5961888"/>
            <a:ext cx="1072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※ 용어 참고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배포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만든 것을 인터넷에 올려 다른 사람이 볼 수 있게 하는 것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GitHub Pages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무료로 웹페이지를 올릴 수 있는 서비스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테마칩"/>
          <p:cNvSpPr/>
          <p:nvPr/>
        </p:nvSpPr>
        <p:spPr>
          <a:xfrm>
            <a:off x="1600200" y="329184"/>
            <a:ext cx="2487168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" name="테마칩 글자"/>
          <p:cNvSpPr txBox="1"/>
          <p:nvPr/>
        </p:nvSpPr>
        <p:spPr>
          <a:xfrm>
            <a:off x="1600200" y="32918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 · 부업·성장·재미</a:t>
            </a:r>
            <a:endParaRPr lang="en-US" sz="1200" dirty="0"/>
          </a:p>
        </p:txBody>
      </p:sp>
      <p:sp>
        <p:nvSpPr>
          <p:cNvPr id="4" name="진행 번호"/>
          <p:cNvSpPr txBox="1"/>
          <p:nvPr/>
        </p:nvSpPr>
        <p:spPr>
          <a:xfrm>
            <a:off x="9811512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27 / 35</a:t>
            </a:r>
            <a:endParaRPr lang="en-US" sz="1200" dirty="0"/>
          </a:p>
        </p:txBody>
      </p:sp>
      <p:sp>
        <p:nvSpPr>
          <p:cNvPr id="5" name="번호원"/>
          <p:cNvSpPr/>
          <p:nvPr/>
        </p:nvSpPr>
        <p:spPr>
          <a:xfrm>
            <a:off x="548640" y="658368"/>
            <a:ext cx="822960" cy="8229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번호"/>
          <p:cNvSpPr txBox="1"/>
          <p:nvPr/>
        </p:nvSpPr>
        <p:spPr>
          <a:xfrm>
            <a:off x="548640" y="6583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27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1600200" y="65836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상세페이지·블로그 글 초안 도구</a:t>
            </a:r>
            <a:endParaRPr lang="en-US" sz="3000" dirty="0"/>
          </a:p>
        </p:txBody>
      </p:sp>
      <p:sp>
        <p:nvSpPr>
          <p:cNvPr id="8" name="의도 라벨"/>
          <p:cNvSpPr txBox="1"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의도</a:t>
            </a:r>
            <a:endParaRPr lang="en-US" sz="1200" dirty="0"/>
          </a:p>
        </p:txBody>
      </p:sp>
      <p:sp>
        <p:nvSpPr>
          <p:cNvPr id="9" name="의도"/>
          <p:cNvSpPr txBox="1"/>
          <p:nvPr/>
        </p:nvSpPr>
        <p:spPr>
          <a:xfrm>
            <a:off x="54864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제품 정보만 넣으면 문구 3종과 제목 후보를 만들어 글쓰기 시작 장벽을 없앤다.</a:t>
            </a:r>
            <a:endParaRPr lang="en-US" sz="1600" dirty="0"/>
          </a:p>
        </p:txBody>
      </p:sp>
      <p:sp>
        <p:nvSpPr>
          <p:cNvPr id="10" name="노하우 카드"/>
          <p:cNvSpPr/>
          <p:nvPr/>
        </p:nvSpPr>
        <p:spPr>
          <a:xfrm>
            <a:off x="548640" y="3611880"/>
            <a:ext cx="457200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노하우 라벨"/>
          <p:cNvSpPr txBox="1"/>
          <p:nvPr/>
        </p:nvSpPr>
        <p:spPr>
          <a:xfrm>
            <a:off x="7772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노하우</a:t>
            </a:r>
            <a:endParaRPr lang="en-US" sz="1200" dirty="0"/>
          </a:p>
        </p:txBody>
      </p:sp>
      <p:sp>
        <p:nvSpPr>
          <p:cNvPr id="12" name="노하우"/>
          <p:cNvSpPr txBox="1"/>
          <p:nvPr/>
        </p:nvSpPr>
        <p:spPr>
          <a:xfrm>
            <a:off x="777240" y="406908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'과장·허위 표현은 경고'를 넣으세요. 광고 표현 문제는 부업에서 가장 흔한 실수입니다.</a:t>
            </a:r>
            <a:endParaRPr lang="en-US" sz="1400" dirty="0"/>
          </a:p>
        </p:txBody>
      </p:sp>
      <p:sp>
        <p:nvSpPr>
          <p:cNvPr id="13" name="스크립트 카드"/>
          <p:cNvSpPr/>
          <p:nvPr/>
        </p:nvSpPr>
        <p:spPr>
          <a:xfrm>
            <a:off x="5440680" y="1737360"/>
            <a:ext cx="6199632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스크립트 라벨"/>
          <p:cNvSpPr txBox="1"/>
          <p:nvPr/>
        </p:nvSpPr>
        <p:spPr>
          <a:xfrm>
            <a:off x="5715000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AI에게 이렇게 시키세요</a:t>
            </a:r>
            <a:endParaRPr lang="en-US" sz="1200" dirty="0"/>
          </a:p>
        </p:txBody>
      </p:sp>
      <p:sp>
        <p:nvSpPr>
          <p:cNvPr id="15" name="스크립트"/>
          <p:cNvSpPr txBox="1"/>
          <p:nvPr/>
        </p:nvSpPr>
        <p:spPr>
          <a:xfrm>
            <a:off x="5715000" y="2286000"/>
            <a:ext cx="5669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제품 정보(이름, 특징, 가격)를 입력하면 상세페이지 문구 3종(감성형/정보형/후기형)과 제목 후보 10개를 만드는 도구를 만들어줘.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'최고', '100% 효과' 같은 과장·허위 가능성이 있는 표현은 노란색으로 경고해줘.</a:t>
            </a:r>
            <a:endParaRPr lang="en-US" sz="1500" dirty="0"/>
          </a:p>
        </p:txBody>
      </p:sp>
      <p:sp>
        <p:nvSpPr>
          <p:cNvPr id="16" name="사례27 용어 배경"/>
          <p:cNvSpPr/>
          <p:nvPr/>
        </p:nvSpPr>
        <p:spPr>
          <a:xfrm>
            <a:off x="548640" y="5943600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사례27 용어"/>
          <p:cNvSpPr txBox="1"/>
          <p:nvPr/>
        </p:nvSpPr>
        <p:spPr>
          <a:xfrm>
            <a:off x="731520" y="5961888"/>
            <a:ext cx="1072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※ 용어 참고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상세페이지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쇼핑몰에서 제품을 설명하는 긴 페이지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초안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다듬기 전 처음 쓴 글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과장광고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사실보다 부풀려 광고하는 표현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테마칩"/>
          <p:cNvSpPr/>
          <p:nvPr/>
        </p:nvSpPr>
        <p:spPr>
          <a:xfrm>
            <a:off x="1600200" y="329184"/>
            <a:ext cx="2487168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" name="테마칩 글자"/>
          <p:cNvSpPr txBox="1"/>
          <p:nvPr/>
        </p:nvSpPr>
        <p:spPr>
          <a:xfrm>
            <a:off x="1600200" y="32918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 · 부업·성장·재미</a:t>
            </a:r>
            <a:endParaRPr lang="en-US" sz="1200" dirty="0"/>
          </a:p>
        </p:txBody>
      </p:sp>
      <p:sp>
        <p:nvSpPr>
          <p:cNvPr id="4" name="진행 번호"/>
          <p:cNvSpPr txBox="1"/>
          <p:nvPr/>
        </p:nvSpPr>
        <p:spPr>
          <a:xfrm>
            <a:off x="9811512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28 / 35</a:t>
            </a:r>
            <a:endParaRPr lang="en-US" sz="1200" dirty="0"/>
          </a:p>
        </p:txBody>
      </p:sp>
      <p:sp>
        <p:nvSpPr>
          <p:cNvPr id="5" name="번호원"/>
          <p:cNvSpPr/>
          <p:nvPr/>
        </p:nvSpPr>
        <p:spPr>
          <a:xfrm>
            <a:off x="548640" y="658368"/>
            <a:ext cx="822960" cy="8229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번호"/>
          <p:cNvSpPr txBox="1"/>
          <p:nvPr/>
        </p:nvSpPr>
        <p:spPr>
          <a:xfrm>
            <a:off x="548640" y="6583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28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1600200" y="65836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자격증·영어 공부 퀴즈 앱</a:t>
            </a:r>
            <a:endParaRPr lang="en-US" sz="3000" dirty="0"/>
          </a:p>
        </p:txBody>
      </p:sp>
      <p:sp>
        <p:nvSpPr>
          <p:cNvPr id="8" name="의도 라벨"/>
          <p:cNvSpPr txBox="1"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의도</a:t>
            </a:r>
            <a:endParaRPr lang="en-US" sz="1200" dirty="0"/>
          </a:p>
        </p:txBody>
      </p:sp>
      <p:sp>
        <p:nvSpPr>
          <p:cNvPr id="9" name="의도"/>
          <p:cNvSpPr txBox="1"/>
          <p:nvPr/>
        </p:nvSpPr>
        <p:spPr>
          <a:xfrm>
            <a:off x="54864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내가 정리한 노트가 곧 문제집이 되고, 틀린 문제만 반복해서 풀게 한다.</a:t>
            </a:r>
            <a:endParaRPr lang="en-US" sz="1600" dirty="0"/>
          </a:p>
        </p:txBody>
      </p:sp>
      <p:sp>
        <p:nvSpPr>
          <p:cNvPr id="10" name="노하우 카드"/>
          <p:cNvSpPr/>
          <p:nvPr/>
        </p:nvSpPr>
        <p:spPr>
          <a:xfrm>
            <a:off x="548640" y="3611880"/>
            <a:ext cx="457200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노하우 라벨"/>
          <p:cNvSpPr txBox="1"/>
          <p:nvPr/>
        </p:nvSpPr>
        <p:spPr>
          <a:xfrm>
            <a:off x="7772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노하우</a:t>
            </a:r>
            <a:endParaRPr lang="en-US" sz="1200" dirty="0"/>
          </a:p>
        </p:txBody>
      </p:sp>
      <p:sp>
        <p:nvSpPr>
          <p:cNvPr id="12" name="노하우"/>
          <p:cNvSpPr txBox="1"/>
          <p:nvPr/>
        </p:nvSpPr>
        <p:spPr>
          <a:xfrm>
            <a:off x="777240" y="406908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내 노트를 기반으로 '출처 밖의 내용은 문제로 내지 마'라고 하면 시험 범위를 벗어나는 문제를 막습니다.</a:t>
            </a:r>
            <a:endParaRPr lang="en-US" sz="1400" dirty="0"/>
          </a:p>
        </p:txBody>
      </p:sp>
      <p:sp>
        <p:nvSpPr>
          <p:cNvPr id="13" name="스크립트 카드"/>
          <p:cNvSpPr/>
          <p:nvPr/>
        </p:nvSpPr>
        <p:spPr>
          <a:xfrm>
            <a:off x="5440680" y="1737360"/>
            <a:ext cx="6199632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스크립트 라벨"/>
          <p:cNvSpPr txBox="1"/>
          <p:nvPr/>
        </p:nvSpPr>
        <p:spPr>
          <a:xfrm>
            <a:off x="5715000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AI에게 이렇게 시키세요</a:t>
            </a:r>
            <a:endParaRPr lang="en-US" sz="1200" dirty="0"/>
          </a:p>
        </p:txBody>
      </p:sp>
      <p:sp>
        <p:nvSpPr>
          <p:cNvPr id="15" name="스크립트"/>
          <p:cNvSpPr txBox="1"/>
          <p:nvPr/>
        </p:nvSpPr>
        <p:spPr>
          <a:xfrm>
            <a:off x="5715000" y="2286000"/>
            <a:ext cx="5669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내가 붙여넣은 학습 노트로 4지선다 퀴즈 10문제를 만들어줘.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틀린 문제는 오답노트에 모아 다음번에 우선 다시 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점수 기록과 연속 학습일 표시도 넣어줘.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노트에 없는 내용은 문제로 만들지 마.</a:t>
            </a:r>
            <a:endParaRPr lang="en-US" sz="1500" dirty="0"/>
          </a:p>
        </p:txBody>
      </p:sp>
      <p:sp>
        <p:nvSpPr>
          <p:cNvPr id="16" name="사례28 용어 배경"/>
          <p:cNvSpPr/>
          <p:nvPr/>
        </p:nvSpPr>
        <p:spPr>
          <a:xfrm>
            <a:off x="548640" y="5943600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사례28 용어"/>
          <p:cNvSpPr txBox="1"/>
          <p:nvPr/>
        </p:nvSpPr>
        <p:spPr>
          <a:xfrm>
            <a:off x="731520" y="5961888"/>
            <a:ext cx="1072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※ 용어 참고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4지선다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보기 4개 중 정답 1개를 고르는 방식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오답노트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틀린 문제를 따로 모아 복습하는 기록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테마칩"/>
          <p:cNvSpPr/>
          <p:nvPr/>
        </p:nvSpPr>
        <p:spPr>
          <a:xfrm>
            <a:off x="1600200" y="329184"/>
            <a:ext cx="2487168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" name="테마칩 글자"/>
          <p:cNvSpPr txBox="1"/>
          <p:nvPr/>
        </p:nvSpPr>
        <p:spPr>
          <a:xfrm>
            <a:off x="1600200" y="32918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 · 부업·성장·재미</a:t>
            </a:r>
            <a:endParaRPr lang="en-US" sz="1200" dirty="0"/>
          </a:p>
        </p:txBody>
      </p:sp>
      <p:sp>
        <p:nvSpPr>
          <p:cNvPr id="4" name="진행 번호"/>
          <p:cNvSpPr txBox="1"/>
          <p:nvPr/>
        </p:nvSpPr>
        <p:spPr>
          <a:xfrm>
            <a:off x="9811512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29 / 35</a:t>
            </a:r>
            <a:endParaRPr lang="en-US" sz="1200" dirty="0"/>
          </a:p>
        </p:txBody>
      </p:sp>
      <p:sp>
        <p:nvSpPr>
          <p:cNvPr id="5" name="번호원"/>
          <p:cNvSpPr/>
          <p:nvPr/>
        </p:nvSpPr>
        <p:spPr>
          <a:xfrm>
            <a:off x="548640" y="658368"/>
            <a:ext cx="822960" cy="8229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번호"/>
          <p:cNvSpPr txBox="1"/>
          <p:nvPr/>
        </p:nvSpPr>
        <p:spPr>
          <a:xfrm>
            <a:off x="548640" y="6583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29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1600200" y="65836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아침 브리핑 알림 봇</a:t>
            </a:r>
            <a:endParaRPr lang="en-US" sz="3000" dirty="0"/>
          </a:p>
        </p:txBody>
      </p:sp>
      <p:sp>
        <p:nvSpPr>
          <p:cNvPr id="8" name="의도 라벨"/>
          <p:cNvSpPr txBox="1"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의도</a:t>
            </a:r>
            <a:endParaRPr lang="en-US" sz="1200" dirty="0"/>
          </a:p>
        </p:txBody>
      </p:sp>
      <p:sp>
        <p:nvSpPr>
          <p:cNvPr id="9" name="의도"/>
          <p:cNvSpPr txBox="1"/>
          <p:nvPr/>
        </p:nvSpPr>
        <p:spPr>
          <a:xfrm>
            <a:off x="54864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매일 아침 날씨·환율·일정이 메신저로 자동 도착하는 나만의 비서를 만든다. 만드는 재미가 큰 활용.</a:t>
            </a:r>
            <a:endParaRPr lang="en-US" sz="1600" dirty="0"/>
          </a:p>
        </p:txBody>
      </p:sp>
      <p:sp>
        <p:nvSpPr>
          <p:cNvPr id="10" name="노하우 카드"/>
          <p:cNvSpPr/>
          <p:nvPr/>
        </p:nvSpPr>
        <p:spPr>
          <a:xfrm>
            <a:off x="548640" y="3611880"/>
            <a:ext cx="457200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노하우 라벨"/>
          <p:cNvSpPr txBox="1"/>
          <p:nvPr/>
        </p:nvSpPr>
        <p:spPr>
          <a:xfrm>
            <a:off x="7772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노하우</a:t>
            </a:r>
            <a:endParaRPr lang="en-US" sz="1200" dirty="0"/>
          </a:p>
        </p:txBody>
      </p:sp>
      <p:sp>
        <p:nvSpPr>
          <p:cNvPr id="12" name="노하우"/>
          <p:cNvSpPr txBox="1"/>
          <p:nvPr/>
        </p:nvSpPr>
        <p:spPr>
          <a:xfrm>
            <a:off x="777240" y="406908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토큰(비밀 열쇠)은 코드에 직접 쓰지 말고 따로 보관하게 하세요. 외부에 올리면 남이 내 봇을 쓸 수 있습니다.</a:t>
            </a:r>
            <a:endParaRPr lang="en-US" sz="1400" dirty="0"/>
          </a:p>
        </p:txBody>
      </p:sp>
      <p:sp>
        <p:nvSpPr>
          <p:cNvPr id="13" name="스크립트 카드"/>
          <p:cNvSpPr/>
          <p:nvPr/>
        </p:nvSpPr>
        <p:spPr>
          <a:xfrm>
            <a:off x="5440680" y="1737360"/>
            <a:ext cx="6199632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스크립트 라벨"/>
          <p:cNvSpPr txBox="1"/>
          <p:nvPr/>
        </p:nvSpPr>
        <p:spPr>
          <a:xfrm>
            <a:off x="5715000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AI에게 이렇게 시키세요</a:t>
            </a:r>
            <a:endParaRPr lang="en-US" sz="1200" dirty="0"/>
          </a:p>
        </p:txBody>
      </p:sp>
      <p:sp>
        <p:nvSpPr>
          <p:cNvPr id="15" name="스크립트"/>
          <p:cNvSpPr txBox="1"/>
          <p:nvPr/>
        </p:nvSpPr>
        <p:spPr>
          <a:xfrm>
            <a:off x="5715000" y="2286000"/>
            <a:ext cx="5669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매일 오전 8시에 ①오늘 날씨 ②환율 ③내 일정 3개를 요약해서 텔레그램으로 보내주는 프로그램을 만들어줘.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필요한 계정과 토큰 발급 방법, 컴퓨터를 꺼도 돌아가게 하는 무료 방법을 단계별로 알려줘.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토큰은 코드에 직접 적지 말고 따로 보관하게 해줘.</a:t>
            </a:r>
            <a:endParaRPr lang="en-US" sz="1500" dirty="0"/>
          </a:p>
        </p:txBody>
      </p:sp>
      <p:sp>
        <p:nvSpPr>
          <p:cNvPr id="16" name="사례29 용어 배경"/>
          <p:cNvSpPr/>
          <p:nvPr/>
        </p:nvSpPr>
        <p:spPr>
          <a:xfrm>
            <a:off x="548640" y="5943600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사례29 용어"/>
          <p:cNvSpPr txBox="1"/>
          <p:nvPr/>
        </p:nvSpPr>
        <p:spPr>
          <a:xfrm>
            <a:off x="731520" y="5961888"/>
            <a:ext cx="1072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※ 용어 참고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봇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정해진 일을 자동으로 해주는 프로그램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토큰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서비스가 나를 알아보는 비밀 열쇠 문자열, 절대 남에게 공개 금지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테마칩"/>
          <p:cNvSpPr/>
          <p:nvPr/>
        </p:nvSpPr>
        <p:spPr>
          <a:xfrm>
            <a:off x="1600200" y="329184"/>
            <a:ext cx="2487168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" name="테마칩 글자"/>
          <p:cNvSpPr txBox="1"/>
          <p:nvPr/>
        </p:nvSpPr>
        <p:spPr>
          <a:xfrm>
            <a:off x="1600200" y="32918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 · 부업·성장·재미</a:t>
            </a:r>
            <a:endParaRPr lang="en-US" sz="1200" dirty="0"/>
          </a:p>
        </p:txBody>
      </p:sp>
      <p:sp>
        <p:nvSpPr>
          <p:cNvPr id="4" name="진행 번호"/>
          <p:cNvSpPr txBox="1"/>
          <p:nvPr/>
        </p:nvSpPr>
        <p:spPr>
          <a:xfrm>
            <a:off x="9811512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30 / 35</a:t>
            </a:r>
            <a:endParaRPr lang="en-US" sz="1200" dirty="0"/>
          </a:p>
        </p:txBody>
      </p:sp>
      <p:sp>
        <p:nvSpPr>
          <p:cNvPr id="5" name="번호원"/>
          <p:cNvSpPr/>
          <p:nvPr/>
        </p:nvSpPr>
        <p:spPr>
          <a:xfrm>
            <a:off x="548640" y="658368"/>
            <a:ext cx="822960" cy="8229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번호"/>
          <p:cNvSpPr txBox="1"/>
          <p:nvPr/>
        </p:nvSpPr>
        <p:spPr>
          <a:xfrm>
            <a:off x="548640" y="6583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30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1600200" y="65836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사내 문서 FAQ 챗봇</a:t>
            </a:r>
            <a:endParaRPr lang="en-US" sz="3000" dirty="0"/>
          </a:p>
        </p:txBody>
      </p:sp>
      <p:sp>
        <p:nvSpPr>
          <p:cNvPr id="8" name="의도 라벨"/>
          <p:cNvSpPr txBox="1"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의도</a:t>
            </a:r>
            <a:endParaRPr lang="en-US" sz="1200" dirty="0"/>
          </a:p>
        </p:txBody>
      </p:sp>
      <p:sp>
        <p:nvSpPr>
          <p:cNvPr id="9" name="의도"/>
          <p:cNvSpPr txBox="1"/>
          <p:nvPr/>
        </p:nvSpPr>
        <p:spPr>
          <a:xfrm>
            <a:off x="54864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규정집·매뉴얼을 올려두면 '이거 어떻게 해요?'에 근거와 함께 대신 답하게 한다. 가장 신기한 활용.</a:t>
            </a:r>
            <a:endParaRPr lang="en-US" sz="1600" dirty="0"/>
          </a:p>
        </p:txBody>
      </p:sp>
      <p:sp>
        <p:nvSpPr>
          <p:cNvPr id="10" name="노하우 카드"/>
          <p:cNvSpPr/>
          <p:nvPr/>
        </p:nvSpPr>
        <p:spPr>
          <a:xfrm>
            <a:off x="548640" y="3611880"/>
            <a:ext cx="457200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노하우 라벨"/>
          <p:cNvSpPr txBox="1"/>
          <p:nvPr/>
        </p:nvSpPr>
        <p:spPr>
          <a:xfrm>
            <a:off x="7772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노하우</a:t>
            </a:r>
            <a:endParaRPr lang="en-US" sz="1200" dirty="0"/>
          </a:p>
        </p:txBody>
      </p:sp>
      <p:sp>
        <p:nvSpPr>
          <p:cNvPr id="12" name="노하우"/>
          <p:cNvSpPr txBox="1"/>
          <p:nvPr/>
        </p:nvSpPr>
        <p:spPr>
          <a:xfrm>
            <a:off x="777240" y="406908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'문서에 없으면 모른다고 답해'가 핵심 규칙입니다. AI가 없는 규정을 그럴듯하게 지어내는 걸 막아줍니다.</a:t>
            </a:r>
            <a:endParaRPr lang="en-US" sz="1400" dirty="0"/>
          </a:p>
        </p:txBody>
      </p:sp>
      <p:sp>
        <p:nvSpPr>
          <p:cNvPr id="13" name="스크립트 카드"/>
          <p:cNvSpPr/>
          <p:nvPr/>
        </p:nvSpPr>
        <p:spPr>
          <a:xfrm>
            <a:off x="5440680" y="1737360"/>
            <a:ext cx="6199632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스크립트 라벨"/>
          <p:cNvSpPr txBox="1"/>
          <p:nvPr/>
        </p:nvSpPr>
        <p:spPr>
          <a:xfrm>
            <a:off x="5715000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AI에게 이렇게 시키세요</a:t>
            </a:r>
            <a:endParaRPr lang="en-US" sz="1200" dirty="0"/>
          </a:p>
        </p:txBody>
      </p:sp>
      <p:sp>
        <p:nvSpPr>
          <p:cNvPr id="15" name="스크립트"/>
          <p:cNvSpPr txBox="1"/>
          <p:nvPr/>
        </p:nvSpPr>
        <p:spPr>
          <a:xfrm>
            <a:off x="5715000" y="2286000"/>
            <a:ext cx="5669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내가 올린 규정집 PDF의 내용만으로 질문에 답하는 챗봇 화면을 만들어줘.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답변 아래에 근거가 된 페이지 번호를 같이 보여줘.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문서에 없는 질문에는 추측하지 말고 '규정집에서 찾을 수 없음'이라고 답해줘.</a:t>
            </a:r>
            <a:endParaRPr lang="en-US" sz="1500" dirty="0"/>
          </a:p>
        </p:txBody>
      </p:sp>
      <p:sp>
        <p:nvSpPr>
          <p:cNvPr id="16" name="사례30 용어 배경"/>
          <p:cNvSpPr/>
          <p:nvPr/>
        </p:nvSpPr>
        <p:spPr>
          <a:xfrm>
            <a:off x="548640" y="5943600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사례30 용어"/>
          <p:cNvSpPr txBox="1"/>
          <p:nvPr/>
        </p:nvSpPr>
        <p:spPr>
          <a:xfrm>
            <a:off x="731520" y="5961888"/>
            <a:ext cx="1072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※ 용어 참고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RAG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질문과 관련된 문서 조각을 찾아 AI에게 함께 주고 답하게 하는 방식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환각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AI가 없는 사실을 그럴듯하게 지어내는 현상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구분 아이콘 원"/>
          <p:cNvSpPr/>
          <p:nvPr/>
        </p:nvSpPr>
        <p:spPr>
          <a:xfrm>
            <a:off x="822960" y="1371600"/>
            <a:ext cx="1554480" cy="155448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pic>
        <p:nvPicPr>
          <p:cNvPr id="3" name="Image 0" descr="제미나이 크롤링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828800"/>
            <a:ext cx="640080" cy="640080"/>
          </a:xfrm>
          <a:prstGeom prst="rect">
            <a:avLst/>
          </a:prstGeom>
        </p:spPr>
      </p:pic>
      <p:sp>
        <p:nvSpPr>
          <p:cNvPr id="4" name="구분 라벨"/>
          <p:cNvSpPr txBox="1"/>
          <p:nvPr/>
        </p:nvSpPr>
        <p:spPr>
          <a:xfrm>
            <a:off x="822960" y="2926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BONUS THEME G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32461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제미나이 크롤링</a:t>
            </a:r>
            <a:endParaRPr lang="en-US" sz="4000" dirty="0"/>
          </a:p>
        </p:txBody>
      </p:sp>
      <p:sp>
        <p:nvSpPr>
          <p:cNvPr id="6" name="구분 설명"/>
          <p:cNvSpPr txBox="1"/>
          <p:nvPr/>
        </p:nvSpPr>
        <p:spPr>
          <a:xfrm>
            <a:off x="822960" y="42519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유튜브·뉴스·공고를 공식 통로로 모아 제미나이(Gemini)가 요약·분류하게 만들기</a:t>
            </a:r>
            <a:endParaRPr lang="en-US" sz="1800" dirty="0"/>
          </a:p>
        </p:txBody>
      </p:sp>
      <p:sp>
        <p:nvSpPr>
          <p:cNvPr id="7" name="구분 목록 카드"/>
          <p:cNvSpPr/>
          <p:nvPr/>
        </p:nvSpPr>
        <p:spPr>
          <a:xfrm>
            <a:off x="6492240" y="1097280"/>
            <a:ext cx="5148072" cy="466344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구분 번호원 31"/>
          <p:cNvSpPr/>
          <p:nvPr/>
        </p:nvSpPr>
        <p:spPr>
          <a:xfrm>
            <a:off x="6812280" y="1417320"/>
            <a:ext cx="548640" cy="54864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9" name="구분 번호 31"/>
          <p:cNvSpPr txBox="1"/>
          <p:nvPr/>
        </p:nvSpPr>
        <p:spPr>
          <a:xfrm>
            <a:off x="68122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31</a:t>
            </a:r>
            <a:endParaRPr lang="en-US" sz="1400" dirty="0"/>
          </a:p>
        </p:txBody>
      </p:sp>
      <p:sp>
        <p:nvSpPr>
          <p:cNvPr id="10" name="구분 사례명 31"/>
          <p:cNvSpPr txBox="1"/>
          <p:nvPr/>
        </p:nvSpPr>
        <p:spPr>
          <a:xfrm>
            <a:off x="7589520" y="141732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유튜브 영상 요약·핵심 정리기</a:t>
            </a:r>
            <a:endParaRPr lang="en-US" sz="1600" dirty="0"/>
          </a:p>
        </p:txBody>
      </p:sp>
      <p:sp>
        <p:nvSpPr>
          <p:cNvPr id="11" name="구분 번호원 32"/>
          <p:cNvSpPr/>
          <p:nvPr/>
        </p:nvSpPr>
        <p:spPr>
          <a:xfrm>
            <a:off x="6812280" y="2286000"/>
            <a:ext cx="548640" cy="54864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2" name="구분 번호 32"/>
          <p:cNvSpPr txBox="1"/>
          <p:nvPr/>
        </p:nvSpPr>
        <p:spPr>
          <a:xfrm>
            <a:off x="68122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32</a:t>
            </a:r>
            <a:endParaRPr lang="en-US" sz="1400" dirty="0"/>
          </a:p>
        </p:txBody>
      </p:sp>
      <p:sp>
        <p:nvSpPr>
          <p:cNvPr id="13" name="구분 사례명 32"/>
          <p:cNvSpPr txBox="1"/>
          <p:nvPr/>
        </p:nvSpPr>
        <p:spPr>
          <a:xfrm>
            <a:off x="7589520" y="228600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관심 채널 새 영상 아침 요약</a:t>
            </a:r>
            <a:endParaRPr lang="en-US" sz="1600" dirty="0"/>
          </a:p>
        </p:txBody>
      </p:sp>
      <p:sp>
        <p:nvSpPr>
          <p:cNvPr id="14" name="구분 번호원 33"/>
          <p:cNvSpPr/>
          <p:nvPr/>
        </p:nvSpPr>
        <p:spPr>
          <a:xfrm>
            <a:off x="6812280" y="3154680"/>
            <a:ext cx="548640" cy="54864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5" name="구분 번호 33"/>
          <p:cNvSpPr txBox="1"/>
          <p:nvPr/>
        </p:nvSpPr>
        <p:spPr>
          <a:xfrm>
            <a:off x="681228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33</a:t>
            </a:r>
            <a:endParaRPr lang="en-US" sz="1400" dirty="0"/>
          </a:p>
        </p:txBody>
      </p:sp>
      <p:sp>
        <p:nvSpPr>
          <p:cNvPr id="16" name="구분 사례명 33"/>
          <p:cNvSpPr txBox="1"/>
          <p:nvPr/>
        </p:nvSpPr>
        <p:spPr>
          <a:xfrm>
            <a:off x="7589520" y="315468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업계 뉴스 수집·AI 큐레이션</a:t>
            </a:r>
            <a:endParaRPr lang="en-US" sz="1600" dirty="0"/>
          </a:p>
        </p:txBody>
      </p:sp>
      <p:sp>
        <p:nvSpPr>
          <p:cNvPr id="17" name="구분 번호원 34"/>
          <p:cNvSpPr/>
          <p:nvPr/>
        </p:nvSpPr>
        <p:spPr>
          <a:xfrm>
            <a:off x="6812280" y="4023360"/>
            <a:ext cx="548640" cy="54864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8" name="구분 번호 34"/>
          <p:cNvSpPr txBox="1"/>
          <p:nvPr/>
        </p:nvSpPr>
        <p:spPr>
          <a:xfrm>
            <a:off x="681228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34</a:t>
            </a:r>
            <a:endParaRPr lang="en-US" sz="1400" dirty="0"/>
          </a:p>
        </p:txBody>
      </p:sp>
      <p:sp>
        <p:nvSpPr>
          <p:cNvPr id="19" name="구분 사례명 34"/>
          <p:cNvSpPr txBox="1"/>
          <p:nvPr/>
        </p:nvSpPr>
        <p:spPr>
          <a:xfrm>
            <a:off x="7589520" y="402336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입찰·채용 공고 모니터링 알림</a:t>
            </a:r>
            <a:endParaRPr lang="en-US" sz="1600" dirty="0"/>
          </a:p>
        </p:txBody>
      </p:sp>
      <p:sp>
        <p:nvSpPr>
          <p:cNvPr id="20" name="구분 번호원 35"/>
          <p:cNvSpPr/>
          <p:nvPr/>
        </p:nvSpPr>
        <p:spPr>
          <a:xfrm>
            <a:off x="6812280" y="4892040"/>
            <a:ext cx="548640" cy="54864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1" name="구분 번호 35"/>
          <p:cNvSpPr txBox="1"/>
          <p:nvPr/>
        </p:nvSpPr>
        <p:spPr>
          <a:xfrm>
            <a:off x="681228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35</a:t>
            </a:r>
            <a:endParaRPr lang="en-US" sz="1400" dirty="0"/>
          </a:p>
        </p:txBody>
      </p:sp>
      <p:sp>
        <p:nvSpPr>
          <p:cNvPr id="22" name="구분 사례명 35"/>
          <p:cNvSpPr txBox="1"/>
          <p:nvPr/>
        </p:nvSpPr>
        <p:spPr>
          <a:xfrm>
            <a:off x="7589520" y="489204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웹페이지 여러 개 → 비교표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테마칩"/>
          <p:cNvSpPr/>
          <p:nvPr/>
        </p:nvSpPr>
        <p:spPr>
          <a:xfrm>
            <a:off x="1600200" y="329184"/>
            <a:ext cx="3502152" cy="292608"/>
          </a:xfrm>
          <a:prstGeom prst="roundRect">
            <a:avLst>
              <a:gd name="adj" fmla="val 50000"/>
            </a:avLst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" name="테마칩 글자"/>
          <p:cNvSpPr txBox="1"/>
          <p:nvPr/>
        </p:nvSpPr>
        <p:spPr>
          <a:xfrm>
            <a:off x="1600200" y="329184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 · 보너스 · 제미나이 크롤링</a:t>
            </a:r>
            <a:endParaRPr lang="en-US" sz="1200" dirty="0"/>
          </a:p>
        </p:txBody>
      </p:sp>
      <p:sp>
        <p:nvSpPr>
          <p:cNvPr id="4" name="진행 번호"/>
          <p:cNvSpPr txBox="1"/>
          <p:nvPr/>
        </p:nvSpPr>
        <p:spPr>
          <a:xfrm>
            <a:off x="9811512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31 / 35</a:t>
            </a:r>
            <a:endParaRPr lang="en-US" sz="1200" dirty="0"/>
          </a:p>
        </p:txBody>
      </p:sp>
      <p:sp>
        <p:nvSpPr>
          <p:cNvPr id="5" name="번호원"/>
          <p:cNvSpPr/>
          <p:nvPr/>
        </p:nvSpPr>
        <p:spPr>
          <a:xfrm>
            <a:off x="548640" y="658368"/>
            <a:ext cx="822960" cy="82296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번호"/>
          <p:cNvSpPr txBox="1"/>
          <p:nvPr/>
        </p:nvSpPr>
        <p:spPr>
          <a:xfrm>
            <a:off x="548640" y="6583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31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1600200" y="65836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유튜브 영상 요약·핵심 정리기</a:t>
            </a:r>
            <a:endParaRPr lang="en-US" sz="3000" dirty="0"/>
          </a:p>
        </p:txBody>
      </p:sp>
      <p:sp>
        <p:nvSpPr>
          <p:cNvPr id="8" name="의도 라벨"/>
          <p:cNvSpPr txBox="1"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</a:rPr>
              <a:t>의도</a:t>
            </a:r>
            <a:endParaRPr lang="en-US" sz="1200" dirty="0"/>
          </a:p>
        </p:txBody>
      </p:sp>
      <p:sp>
        <p:nvSpPr>
          <p:cNvPr id="9" name="의도"/>
          <p:cNvSpPr txBox="1"/>
          <p:nvPr/>
        </p:nvSpPr>
        <p:spPr>
          <a:xfrm>
            <a:off x="54864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1시간짜리 세미나·강의 영상을 끝까지 보지 않고도 핵심 5가지와 시간대별 목차로 훑어본다.</a:t>
            </a:r>
            <a:endParaRPr lang="en-US" sz="1600" dirty="0"/>
          </a:p>
        </p:txBody>
      </p:sp>
      <p:sp>
        <p:nvSpPr>
          <p:cNvPr id="10" name="노하우 카드"/>
          <p:cNvSpPr/>
          <p:nvPr/>
        </p:nvSpPr>
        <p:spPr>
          <a:xfrm>
            <a:off x="548640" y="3611880"/>
            <a:ext cx="457200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노하우 라벨"/>
          <p:cNvSpPr txBox="1"/>
          <p:nvPr/>
        </p:nvSpPr>
        <p:spPr>
          <a:xfrm>
            <a:off x="7772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</a:rPr>
              <a:t>노하우</a:t>
            </a:r>
            <a:endParaRPr lang="en-US" sz="1200" dirty="0"/>
          </a:p>
        </p:txBody>
      </p:sp>
      <p:sp>
        <p:nvSpPr>
          <p:cNvPr id="12" name="노하우"/>
          <p:cNvSpPr txBox="1"/>
          <p:nvPr/>
        </p:nvSpPr>
        <p:spPr>
          <a:xfrm>
            <a:off x="777240" y="406908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자막이 있는 영상만 대상으로 하고, '자막이 없으면 억지로 만들지 말고 알려줘'를 넣으세요. 요약을 남에게 공유할 때는 원본 링크와 출처를 꼭 함께 적으세요.</a:t>
            </a:r>
            <a:endParaRPr lang="en-US" sz="1400" dirty="0"/>
          </a:p>
        </p:txBody>
      </p:sp>
      <p:sp>
        <p:nvSpPr>
          <p:cNvPr id="13" name="스크립트 카드"/>
          <p:cNvSpPr/>
          <p:nvPr/>
        </p:nvSpPr>
        <p:spPr>
          <a:xfrm>
            <a:off x="5440680" y="1737360"/>
            <a:ext cx="6199632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스크립트 라벨"/>
          <p:cNvSpPr txBox="1"/>
          <p:nvPr/>
        </p:nvSpPr>
        <p:spPr>
          <a:xfrm>
            <a:off x="5715000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AI에게 이렇게 시키세요</a:t>
            </a:r>
            <a:endParaRPr lang="en-US" sz="1200" dirty="0"/>
          </a:p>
        </p:txBody>
      </p:sp>
      <p:sp>
        <p:nvSpPr>
          <p:cNvPr id="15" name="스크립트"/>
          <p:cNvSpPr txBox="1"/>
          <p:nvPr/>
        </p:nvSpPr>
        <p:spPr>
          <a:xfrm>
            <a:off x="5715000" y="2286000"/>
            <a:ext cx="5669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유튜브 영상 주소를 입력하면 그 영상의 공식 자막(트랜스크립트)을 가져와서, 제미나이(Gemini)로 ①한 줄 요약 ②핵심 5가지 ③시간대별 목차를 만들어주는 웹페이지를 만들어줘.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자막이 없으면 '자막 없음'이라고 알려주고 내용을 지어내지 마.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Gemini API 키는 코드에 직접 쓰지 말고 따로 보관하게 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실행 방법과 키 발급 방법을 초보자 기준으로 단계별로 알려줘.</a:t>
            </a:r>
            <a:endParaRPr lang="en-US" sz="1500" dirty="0"/>
          </a:p>
        </p:txBody>
      </p:sp>
      <p:sp>
        <p:nvSpPr>
          <p:cNvPr id="16" name="사례31 용어 배경"/>
          <p:cNvSpPr/>
          <p:nvPr/>
        </p:nvSpPr>
        <p:spPr>
          <a:xfrm>
            <a:off x="548640" y="5943600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사례31 용어"/>
          <p:cNvSpPr txBox="1"/>
          <p:nvPr/>
        </p:nvSpPr>
        <p:spPr>
          <a:xfrm>
            <a:off x="731520" y="5961888"/>
            <a:ext cx="1072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※ 용어 참고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트랜스크립트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영상 속 말을 글로 옮긴 자막 텍스트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Gemini API 키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구글 AI를 내 프로그램에서 쓰게 해주는 비밀 열쇠 문자열, 공개 금지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요약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핵심만 줄여 쓴 글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테마칩"/>
          <p:cNvSpPr/>
          <p:nvPr/>
        </p:nvSpPr>
        <p:spPr>
          <a:xfrm>
            <a:off x="1600200" y="329184"/>
            <a:ext cx="3502152" cy="292608"/>
          </a:xfrm>
          <a:prstGeom prst="roundRect">
            <a:avLst>
              <a:gd name="adj" fmla="val 50000"/>
            </a:avLst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" name="테마칩 글자"/>
          <p:cNvSpPr txBox="1"/>
          <p:nvPr/>
        </p:nvSpPr>
        <p:spPr>
          <a:xfrm>
            <a:off x="1600200" y="329184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 · 보너스 · 제미나이 크롤링</a:t>
            </a:r>
            <a:endParaRPr lang="en-US" sz="1200" dirty="0"/>
          </a:p>
        </p:txBody>
      </p:sp>
      <p:sp>
        <p:nvSpPr>
          <p:cNvPr id="4" name="진행 번호"/>
          <p:cNvSpPr txBox="1"/>
          <p:nvPr/>
        </p:nvSpPr>
        <p:spPr>
          <a:xfrm>
            <a:off x="9811512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32 / 35</a:t>
            </a:r>
            <a:endParaRPr lang="en-US" sz="1200" dirty="0"/>
          </a:p>
        </p:txBody>
      </p:sp>
      <p:sp>
        <p:nvSpPr>
          <p:cNvPr id="5" name="번호원"/>
          <p:cNvSpPr/>
          <p:nvPr/>
        </p:nvSpPr>
        <p:spPr>
          <a:xfrm>
            <a:off x="548640" y="658368"/>
            <a:ext cx="822960" cy="82296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번호"/>
          <p:cNvSpPr txBox="1"/>
          <p:nvPr/>
        </p:nvSpPr>
        <p:spPr>
          <a:xfrm>
            <a:off x="548640" y="6583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32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1600200" y="65836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관심 채널 새 영상 아침 요약</a:t>
            </a:r>
            <a:endParaRPr lang="en-US" sz="3000" dirty="0"/>
          </a:p>
        </p:txBody>
      </p:sp>
      <p:sp>
        <p:nvSpPr>
          <p:cNvPr id="8" name="의도 라벨"/>
          <p:cNvSpPr txBox="1"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</a:rPr>
              <a:t>의도</a:t>
            </a:r>
            <a:endParaRPr lang="en-US" sz="1200" dirty="0"/>
          </a:p>
        </p:txBody>
      </p:sp>
      <p:sp>
        <p:nvSpPr>
          <p:cNvPr id="9" name="의도"/>
          <p:cNvSpPr txBox="1"/>
          <p:nvPr/>
        </p:nvSpPr>
        <p:spPr>
          <a:xfrm>
            <a:off x="54864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구독 채널 5개의 새 영상을 일일이 열어보지 않고, 매일 아침 3줄 요약표로 받아본다.</a:t>
            </a:r>
            <a:endParaRPr lang="en-US" sz="1600" dirty="0"/>
          </a:p>
        </p:txBody>
      </p:sp>
      <p:sp>
        <p:nvSpPr>
          <p:cNvPr id="10" name="노하우 카드"/>
          <p:cNvSpPr/>
          <p:nvPr/>
        </p:nvSpPr>
        <p:spPr>
          <a:xfrm>
            <a:off x="548640" y="3611880"/>
            <a:ext cx="457200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노하우 라벨"/>
          <p:cNvSpPr txBox="1"/>
          <p:nvPr/>
        </p:nvSpPr>
        <p:spPr>
          <a:xfrm>
            <a:off x="7772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</a:rPr>
              <a:t>노하우</a:t>
            </a:r>
            <a:endParaRPr lang="en-US" sz="1200" dirty="0"/>
          </a:p>
        </p:txBody>
      </p:sp>
      <p:sp>
        <p:nvSpPr>
          <p:cNvPr id="12" name="노하우"/>
          <p:cNvSpPr txBox="1"/>
          <p:nvPr/>
        </p:nvSpPr>
        <p:spPr>
          <a:xfrm>
            <a:off x="777240" y="406908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화면을 긁어오지 말고 공식 통로(RSS나 YouTube Data API)만 쓰게 하세요. 하루 1~2번만 실행하게 해야 차단이나 사용량 초과를 피합니다.</a:t>
            </a:r>
            <a:endParaRPr lang="en-US" sz="1400" dirty="0"/>
          </a:p>
        </p:txBody>
      </p:sp>
      <p:sp>
        <p:nvSpPr>
          <p:cNvPr id="13" name="스크립트 카드"/>
          <p:cNvSpPr/>
          <p:nvPr/>
        </p:nvSpPr>
        <p:spPr>
          <a:xfrm>
            <a:off x="5440680" y="1737360"/>
            <a:ext cx="6199632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스크립트 라벨"/>
          <p:cNvSpPr txBox="1"/>
          <p:nvPr/>
        </p:nvSpPr>
        <p:spPr>
          <a:xfrm>
            <a:off x="5715000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AI에게 이렇게 시키세요</a:t>
            </a:r>
            <a:endParaRPr lang="en-US" sz="1200" dirty="0"/>
          </a:p>
        </p:txBody>
      </p:sp>
      <p:sp>
        <p:nvSpPr>
          <p:cNvPr id="15" name="스크립트"/>
          <p:cNvSpPr txBox="1"/>
          <p:nvPr/>
        </p:nvSpPr>
        <p:spPr>
          <a:xfrm>
            <a:off x="5715000" y="2286000"/>
            <a:ext cx="5669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내가 정한 유튜브 채널 5개의 최근 24시간 새 영상을 공식 RSS 주소로 가져와서, [채널명, 제목, 링크, 3줄 요약] 표로 만들어줘.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요약은 영상 자막을 제미나이(Gemini)에게 읽혀서 만들어줘. 자막이 없으면 제목만 표시해줘.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유튜브 화면을 직접 긁어오는 방식은 쓰지 말고, 하루 한 번만 실행되게 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결과는 HTML 한 장으로 저장해줘.</a:t>
            </a:r>
            <a:endParaRPr lang="en-US" sz="1500" dirty="0"/>
          </a:p>
        </p:txBody>
      </p:sp>
      <p:sp>
        <p:nvSpPr>
          <p:cNvPr id="16" name="사례32 용어 배경"/>
          <p:cNvSpPr/>
          <p:nvPr/>
        </p:nvSpPr>
        <p:spPr>
          <a:xfrm>
            <a:off x="548640" y="5943600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사례32 용어"/>
          <p:cNvSpPr txBox="1"/>
          <p:nvPr/>
        </p:nvSpPr>
        <p:spPr>
          <a:xfrm>
            <a:off x="731520" y="5961888"/>
            <a:ext cx="1072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※ 용어 참고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RSS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새 글·새 영상 목록을 알려주는 공식 구독 주소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YouTube Data API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유튜브가 정보를 가져가도록 허용한 공식 통로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스크래핑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화면에서 정보를 자동으로 긁어오는 것(약관 확인 필수)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테마칩"/>
          <p:cNvSpPr/>
          <p:nvPr/>
        </p:nvSpPr>
        <p:spPr>
          <a:xfrm>
            <a:off x="1600200" y="329184"/>
            <a:ext cx="3502152" cy="292608"/>
          </a:xfrm>
          <a:prstGeom prst="roundRect">
            <a:avLst>
              <a:gd name="adj" fmla="val 50000"/>
            </a:avLst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" name="테마칩 글자"/>
          <p:cNvSpPr txBox="1"/>
          <p:nvPr/>
        </p:nvSpPr>
        <p:spPr>
          <a:xfrm>
            <a:off x="1600200" y="329184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 · 보너스 · 제미나이 크롤링</a:t>
            </a:r>
            <a:endParaRPr lang="en-US" sz="1200" dirty="0"/>
          </a:p>
        </p:txBody>
      </p:sp>
      <p:sp>
        <p:nvSpPr>
          <p:cNvPr id="4" name="진행 번호"/>
          <p:cNvSpPr txBox="1"/>
          <p:nvPr/>
        </p:nvSpPr>
        <p:spPr>
          <a:xfrm>
            <a:off x="9811512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33 / 35</a:t>
            </a:r>
            <a:endParaRPr lang="en-US" sz="1200" dirty="0"/>
          </a:p>
        </p:txBody>
      </p:sp>
      <p:sp>
        <p:nvSpPr>
          <p:cNvPr id="5" name="번호원"/>
          <p:cNvSpPr/>
          <p:nvPr/>
        </p:nvSpPr>
        <p:spPr>
          <a:xfrm>
            <a:off x="548640" y="658368"/>
            <a:ext cx="822960" cy="82296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번호"/>
          <p:cNvSpPr txBox="1"/>
          <p:nvPr/>
        </p:nvSpPr>
        <p:spPr>
          <a:xfrm>
            <a:off x="548640" y="6583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33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1600200" y="65836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업계 뉴스 수집·AI 큐레이션</a:t>
            </a:r>
            <a:endParaRPr lang="en-US" sz="3000" dirty="0"/>
          </a:p>
        </p:txBody>
      </p:sp>
      <p:sp>
        <p:nvSpPr>
          <p:cNvPr id="8" name="의도 라벨"/>
          <p:cNvSpPr txBox="1"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</a:rPr>
              <a:t>의도</a:t>
            </a:r>
            <a:endParaRPr lang="en-US" sz="1200" dirty="0"/>
          </a:p>
        </p:txBody>
      </p:sp>
      <p:sp>
        <p:nvSpPr>
          <p:cNvPr id="9" name="의도"/>
          <p:cNvSpPr txBox="1"/>
          <p:nvPr/>
        </p:nvSpPr>
        <p:spPr>
          <a:xfrm>
            <a:off x="54864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여러 뉴스 사이트를 돌아다니던 아침 루틴을, 우리 업계와 관련된 기사만 골라 한 줄 요약한 목록으로 바꾼다.</a:t>
            </a:r>
            <a:endParaRPr lang="en-US" sz="1600" dirty="0"/>
          </a:p>
        </p:txBody>
      </p:sp>
      <p:sp>
        <p:nvSpPr>
          <p:cNvPr id="10" name="노하우 카드"/>
          <p:cNvSpPr/>
          <p:nvPr/>
        </p:nvSpPr>
        <p:spPr>
          <a:xfrm>
            <a:off x="548640" y="3611880"/>
            <a:ext cx="457200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노하우 라벨"/>
          <p:cNvSpPr txBox="1"/>
          <p:nvPr/>
        </p:nvSpPr>
        <p:spPr>
          <a:xfrm>
            <a:off x="7772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</a:rPr>
              <a:t>노하우</a:t>
            </a:r>
            <a:endParaRPr lang="en-US" sz="1200" dirty="0"/>
          </a:p>
        </p:txBody>
      </p:sp>
      <p:sp>
        <p:nvSpPr>
          <p:cNvPr id="12" name="노하우"/>
          <p:cNvSpPr txBox="1"/>
          <p:nvPr/>
        </p:nvSpPr>
        <p:spPr>
          <a:xfrm>
            <a:off x="777240" y="406908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기사 전문을 저장하거나 퍼뜨리지 말고 '제목+링크+내 말로 요약'만 남기게 하세요. 저작권과 사이트 약관 문제를 피하는 가장 안전한 방식입니다.</a:t>
            </a:r>
            <a:endParaRPr lang="en-US" sz="1400" dirty="0"/>
          </a:p>
        </p:txBody>
      </p:sp>
      <p:sp>
        <p:nvSpPr>
          <p:cNvPr id="13" name="스크립트 카드"/>
          <p:cNvSpPr/>
          <p:nvPr/>
        </p:nvSpPr>
        <p:spPr>
          <a:xfrm>
            <a:off x="5440680" y="1737360"/>
            <a:ext cx="6199632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스크립트 라벨"/>
          <p:cNvSpPr txBox="1"/>
          <p:nvPr/>
        </p:nvSpPr>
        <p:spPr>
          <a:xfrm>
            <a:off x="5715000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AI에게 이렇게 시키세요</a:t>
            </a:r>
            <a:endParaRPr lang="en-US" sz="1200" dirty="0"/>
          </a:p>
        </p:txBody>
      </p:sp>
      <p:sp>
        <p:nvSpPr>
          <p:cNvPr id="15" name="스크립트"/>
          <p:cNvSpPr txBox="1"/>
          <p:nvPr/>
        </p:nvSpPr>
        <p:spPr>
          <a:xfrm>
            <a:off x="5715000" y="2286000"/>
            <a:ext cx="5669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내가 지정한 뉴스 사이트 5곳의 RSS를 읽어서 오늘 올라온 기사를 모아줘. 제목이 비슷한 중복 기사는 하나로 합쳐줘.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제미나이(Gemini)에게 '우리 업계(중소 제조업)와의 관련도를 1~5점으로 매기고 한 줄 요약'을 시켜서, 4점 이상만 점수순으로 보여줘.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기사 본문 전체는 저장하지 말고 제목, 링크, 요약만 남겨줘.</a:t>
            </a:r>
            <a:endParaRPr lang="en-US" sz="1500" dirty="0"/>
          </a:p>
        </p:txBody>
      </p:sp>
      <p:sp>
        <p:nvSpPr>
          <p:cNvPr id="16" name="사례33 용어 배경"/>
          <p:cNvSpPr/>
          <p:nvPr/>
        </p:nvSpPr>
        <p:spPr>
          <a:xfrm>
            <a:off x="548640" y="5943600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사례33 용어"/>
          <p:cNvSpPr txBox="1"/>
          <p:nvPr/>
        </p:nvSpPr>
        <p:spPr>
          <a:xfrm>
            <a:off x="731520" y="5961888"/>
            <a:ext cx="1072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※ 용어 참고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큐레이션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많은 정보 중 쓸모 있는 것만 골라 정리해주는 일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중복 제거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같은 내용이 여러 번 나온 것을 하나로 합치기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관련도 점수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내 업무와 얼마나 관련 있는지 매긴 점수</a:t>
            </a:r>
            <a:endParaRPr lang="en-US" sz="10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테마칩"/>
          <p:cNvSpPr/>
          <p:nvPr/>
        </p:nvSpPr>
        <p:spPr>
          <a:xfrm>
            <a:off x="1600200" y="329184"/>
            <a:ext cx="3502152" cy="292608"/>
          </a:xfrm>
          <a:prstGeom prst="roundRect">
            <a:avLst>
              <a:gd name="adj" fmla="val 50000"/>
            </a:avLst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" name="테마칩 글자"/>
          <p:cNvSpPr txBox="1"/>
          <p:nvPr/>
        </p:nvSpPr>
        <p:spPr>
          <a:xfrm>
            <a:off x="1600200" y="329184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 · 보너스 · 제미나이 크롤링</a:t>
            </a:r>
            <a:endParaRPr lang="en-US" sz="1200" dirty="0"/>
          </a:p>
        </p:txBody>
      </p:sp>
      <p:sp>
        <p:nvSpPr>
          <p:cNvPr id="4" name="진행 번호"/>
          <p:cNvSpPr txBox="1"/>
          <p:nvPr/>
        </p:nvSpPr>
        <p:spPr>
          <a:xfrm>
            <a:off x="9811512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34 / 35</a:t>
            </a:r>
            <a:endParaRPr lang="en-US" sz="1200" dirty="0"/>
          </a:p>
        </p:txBody>
      </p:sp>
      <p:sp>
        <p:nvSpPr>
          <p:cNvPr id="5" name="번호원"/>
          <p:cNvSpPr/>
          <p:nvPr/>
        </p:nvSpPr>
        <p:spPr>
          <a:xfrm>
            <a:off x="548640" y="658368"/>
            <a:ext cx="822960" cy="82296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번호"/>
          <p:cNvSpPr txBox="1"/>
          <p:nvPr/>
        </p:nvSpPr>
        <p:spPr>
          <a:xfrm>
            <a:off x="548640" y="6583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34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1600200" y="65836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입찰·채용 공고 모니터링 알림</a:t>
            </a:r>
            <a:endParaRPr lang="en-US" sz="3000" dirty="0"/>
          </a:p>
        </p:txBody>
      </p:sp>
      <p:sp>
        <p:nvSpPr>
          <p:cNvPr id="8" name="의도 라벨"/>
          <p:cNvSpPr txBox="1"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</a:rPr>
              <a:t>의도</a:t>
            </a:r>
            <a:endParaRPr lang="en-US" sz="1200" dirty="0"/>
          </a:p>
        </p:txBody>
      </p:sp>
      <p:sp>
        <p:nvSpPr>
          <p:cNvPr id="9" name="의도"/>
          <p:cNvSpPr txBox="1"/>
          <p:nvPr/>
        </p:nvSpPr>
        <p:spPr>
          <a:xfrm>
            <a:off x="54864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공공 입찰이나 채용 공고를 매일 검색하던 일을, 내 조건에 맞는 새 공고만 알려주는 알림으로 바꾼다.</a:t>
            </a:r>
            <a:endParaRPr lang="en-US" sz="1600" dirty="0"/>
          </a:p>
        </p:txBody>
      </p:sp>
      <p:sp>
        <p:nvSpPr>
          <p:cNvPr id="10" name="노하우 카드"/>
          <p:cNvSpPr/>
          <p:nvPr/>
        </p:nvSpPr>
        <p:spPr>
          <a:xfrm>
            <a:off x="548640" y="3611880"/>
            <a:ext cx="457200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노하우 라벨"/>
          <p:cNvSpPr txBox="1"/>
          <p:nvPr/>
        </p:nvSpPr>
        <p:spPr>
          <a:xfrm>
            <a:off x="7772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</a:rPr>
              <a:t>노하우</a:t>
            </a:r>
            <a:endParaRPr lang="en-US" sz="1200" dirty="0"/>
          </a:p>
        </p:txBody>
      </p:sp>
      <p:sp>
        <p:nvSpPr>
          <p:cNvPr id="12" name="노하우"/>
          <p:cNvSpPr txBox="1"/>
          <p:nvPr/>
        </p:nvSpPr>
        <p:spPr>
          <a:xfrm>
            <a:off x="777240" y="406908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공공데이터포털(data.go.kr) 같은 공식 OpenAPI를 우선 찾아보세요. 화면 긁기보다 안정적이고 약관 문제도 적습니다. 마감일은 꼭 원본에서 다시 확인하세요.</a:t>
            </a:r>
            <a:endParaRPr lang="en-US" sz="1400" dirty="0"/>
          </a:p>
        </p:txBody>
      </p:sp>
      <p:sp>
        <p:nvSpPr>
          <p:cNvPr id="13" name="스크립트 카드"/>
          <p:cNvSpPr/>
          <p:nvPr/>
        </p:nvSpPr>
        <p:spPr>
          <a:xfrm>
            <a:off x="5440680" y="1737360"/>
            <a:ext cx="6199632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스크립트 라벨"/>
          <p:cNvSpPr txBox="1"/>
          <p:nvPr/>
        </p:nvSpPr>
        <p:spPr>
          <a:xfrm>
            <a:off x="5715000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AI에게 이렇게 시키세요</a:t>
            </a:r>
            <a:endParaRPr lang="en-US" sz="1200" dirty="0"/>
          </a:p>
        </p:txBody>
      </p:sp>
      <p:sp>
        <p:nvSpPr>
          <p:cNvPr id="15" name="스크립트"/>
          <p:cNvSpPr txBox="1"/>
          <p:nvPr/>
        </p:nvSpPr>
        <p:spPr>
          <a:xfrm>
            <a:off x="5715000" y="2286000"/>
            <a:ext cx="5669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공공데이터포털의 입찰공고 OpenAPI를 사용해서, 키워드('소프트웨어', '시스템 구축')가 제목에 들어간 오늘 새 공고를 가져오는 프로그램을 만들어줘.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[공고명, 기관, 마감일, 예산, 링크]를 표로 보여주고, 제미나이(Gemini)로 공고 내용을 3줄로 요약해줘.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이미 알려준 공고는 다시 알려주지 않게 기록해줘.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API 키 발급 방법도 단계별로 알려줘.</a:t>
            </a:r>
            <a:endParaRPr lang="en-US" sz="1500" dirty="0"/>
          </a:p>
        </p:txBody>
      </p:sp>
      <p:sp>
        <p:nvSpPr>
          <p:cNvPr id="16" name="사례34 용어 배경"/>
          <p:cNvSpPr/>
          <p:nvPr/>
        </p:nvSpPr>
        <p:spPr>
          <a:xfrm>
            <a:off x="548640" y="5943600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사례34 용어"/>
          <p:cNvSpPr txBox="1"/>
          <p:nvPr/>
        </p:nvSpPr>
        <p:spPr>
          <a:xfrm>
            <a:off x="731520" y="5961888"/>
            <a:ext cx="1072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※ 용어 참고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OpenAPI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기관이 누구나 쓰도록 공개한 데이터 이용 통로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공공데이터포털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정부·공공기관 데이터를 모아 제공하는 사이트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키워드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찾고 싶은 핵심 단어</a:t>
            </a:r>
            <a:endParaRPr lang="en-US" sz="10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테마칩"/>
          <p:cNvSpPr/>
          <p:nvPr/>
        </p:nvSpPr>
        <p:spPr>
          <a:xfrm>
            <a:off x="1600200" y="329184"/>
            <a:ext cx="3502152" cy="292608"/>
          </a:xfrm>
          <a:prstGeom prst="roundRect">
            <a:avLst>
              <a:gd name="adj" fmla="val 50000"/>
            </a:avLst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" name="테마칩 글자"/>
          <p:cNvSpPr txBox="1"/>
          <p:nvPr/>
        </p:nvSpPr>
        <p:spPr>
          <a:xfrm>
            <a:off x="1600200" y="329184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 · 보너스 · 제미나이 크롤링</a:t>
            </a:r>
            <a:endParaRPr lang="en-US" sz="1200" dirty="0"/>
          </a:p>
        </p:txBody>
      </p:sp>
      <p:sp>
        <p:nvSpPr>
          <p:cNvPr id="4" name="진행 번호"/>
          <p:cNvSpPr txBox="1"/>
          <p:nvPr/>
        </p:nvSpPr>
        <p:spPr>
          <a:xfrm>
            <a:off x="9811512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35 / 35</a:t>
            </a:r>
            <a:endParaRPr lang="en-US" sz="1200" dirty="0"/>
          </a:p>
        </p:txBody>
      </p:sp>
      <p:sp>
        <p:nvSpPr>
          <p:cNvPr id="5" name="번호원"/>
          <p:cNvSpPr/>
          <p:nvPr/>
        </p:nvSpPr>
        <p:spPr>
          <a:xfrm>
            <a:off x="548640" y="658368"/>
            <a:ext cx="822960" cy="82296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번호"/>
          <p:cNvSpPr txBox="1"/>
          <p:nvPr/>
        </p:nvSpPr>
        <p:spPr>
          <a:xfrm>
            <a:off x="548640" y="6583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35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1600200" y="65836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웹페이지 여러 개 → 비교표</a:t>
            </a:r>
            <a:endParaRPr lang="en-US" sz="3000" dirty="0"/>
          </a:p>
        </p:txBody>
      </p:sp>
      <p:sp>
        <p:nvSpPr>
          <p:cNvPr id="8" name="의도 라벨"/>
          <p:cNvSpPr txBox="1"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</a:rPr>
              <a:t>의도</a:t>
            </a:r>
            <a:endParaRPr lang="en-US" sz="1200" dirty="0"/>
          </a:p>
        </p:txBody>
      </p:sp>
      <p:sp>
        <p:nvSpPr>
          <p:cNvPr id="9" name="의도"/>
          <p:cNvSpPr txBox="1"/>
          <p:nvPr/>
        </p:nvSpPr>
        <p:spPr>
          <a:xfrm>
            <a:off x="54864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제품·숙소·서비스 소개 페이지 5개를 일일이 읽고 옮겨 적던 일을 가격·특징 비교표로 자동 정리한다.</a:t>
            </a:r>
            <a:endParaRPr lang="en-US" sz="1600" dirty="0"/>
          </a:p>
        </p:txBody>
      </p:sp>
      <p:sp>
        <p:nvSpPr>
          <p:cNvPr id="10" name="노하우 카드"/>
          <p:cNvSpPr/>
          <p:nvPr/>
        </p:nvSpPr>
        <p:spPr>
          <a:xfrm>
            <a:off x="548640" y="3611880"/>
            <a:ext cx="457200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노하우 라벨"/>
          <p:cNvSpPr txBox="1"/>
          <p:nvPr/>
        </p:nvSpPr>
        <p:spPr>
          <a:xfrm>
            <a:off x="7772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</a:rPr>
              <a:t>노하우</a:t>
            </a:r>
            <a:endParaRPr lang="en-US" sz="1200" dirty="0"/>
          </a:p>
        </p:txBody>
      </p:sp>
      <p:sp>
        <p:nvSpPr>
          <p:cNvPr id="12" name="노하우"/>
          <p:cNvSpPr txBox="1"/>
          <p:nvPr/>
        </p:nvSpPr>
        <p:spPr>
          <a:xfrm>
            <a:off x="777240" y="406908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'접속이 막히면 우회하지 말고 알려줘', '요청 사이에 몇 초 간격을 둬줘'를 넣으세요. 사이트의 robots.txt와 이용약관을 먼저 확인하는 습관이 가장 중요합니다.</a:t>
            </a:r>
            <a:endParaRPr lang="en-US" sz="1400" dirty="0"/>
          </a:p>
        </p:txBody>
      </p:sp>
      <p:sp>
        <p:nvSpPr>
          <p:cNvPr id="13" name="스크립트 카드"/>
          <p:cNvSpPr/>
          <p:nvPr/>
        </p:nvSpPr>
        <p:spPr>
          <a:xfrm>
            <a:off x="5440680" y="1737360"/>
            <a:ext cx="6199632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스크립트 라벨"/>
          <p:cNvSpPr txBox="1"/>
          <p:nvPr/>
        </p:nvSpPr>
        <p:spPr>
          <a:xfrm>
            <a:off x="5715000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AI에게 이렇게 시키세요</a:t>
            </a:r>
            <a:endParaRPr lang="en-US" sz="1200" dirty="0"/>
          </a:p>
        </p:txBody>
      </p:sp>
      <p:sp>
        <p:nvSpPr>
          <p:cNvPr id="15" name="스크립트"/>
          <p:cNvSpPr txBox="1"/>
          <p:nvPr/>
        </p:nvSpPr>
        <p:spPr>
          <a:xfrm>
            <a:off x="5715000" y="2286000"/>
            <a:ext cx="5669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내가 붙여넣은 웹페이지 주소 5개를 열어서 제미나이(Gemini)로 [이름, 가격, 핵심 특징 3가지, 단점]을 뽑아 비교표로 만들어줘.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페이지에 정보가 없으면 추측하지 말고 '정보 없음'으로 적어줘.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접속이 막히면 우회하지 말고 알려주고, 요청 사이에 3초 이상 간격을 둬줘.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각 사이트의 robots.txt를 확인하는 방법도 안내해줘.</a:t>
            </a:r>
            <a:endParaRPr lang="en-US" sz="1500" dirty="0"/>
          </a:p>
        </p:txBody>
      </p:sp>
      <p:sp>
        <p:nvSpPr>
          <p:cNvPr id="16" name="사례35 용어 배경"/>
          <p:cNvSpPr/>
          <p:nvPr/>
        </p:nvSpPr>
        <p:spPr>
          <a:xfrm>
            <a:off x="548640" y="5943600"/>
            <a:ext cx="11091672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사례35 용어"/>
          <p:cNvSpPr txBox="1"/>
          <p:nvPr/>
        </p:nvSpPr>
        <p:spPr>
          <a:xfrm>
            <a:off x="731520" y="5961888"/>
            <a:ext cx="1072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※ 용어 참고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robots.txt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사이트가 '이 부분은 자동 수집하지 마세요'라고 적어둔 안내 파일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크롤링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프로그램이 웹페이지를 돌며 정보를 모으는 일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1"/>
                </a:solidFill>
              </a:rPr>
              <a:t>     ▪    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2"/>
                </a:solidFill>
              </a:rPr>
              <a:t>이용약관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 = 사이트 이용 규칙으로, 자동 수집 금지 조항이 있을 수 있음</a:t>
            </a:r>
            <a:endParaRPr lang="en-US" sz="10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오늘 바로 시작하는 3단계</a:t>
            </a:r>
            <a:endParaRPr lang="en-US" sz="3600" dirty="0"/>
          </a:p>
        </p:txBody>
      </p:sp>
      <p:sp>
        <p:nvSpPr>
          <p:cNvPr id="3" name="단계카드 1"/>
          <p:cNvSpPr/>
          <p:nvPr/>
        </p:nvSpPr>
        <p:spPr>
          <a:xfrm>
            <a:off x="822960" y="1965960"/>
            <a:ext cx="3383280" cy="2926080"/>
          </a:xfrm>
          <a:prstGeom prst="roundRect">
            <a:avLst>
              <a:gd name="adj" fmla="val 37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단계원 1"/>
          <p:cNvSpPr/>
          <p:nvPr/>
        </p:nvSpPr>
        <p:spPr>
          <a:xfrm>
            <a:off x="1097280" y="22402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단계번호 1"/>
          <p:cNvSpPr txBox="1"/>
          <p:nvPr/>
        </p:nvSpPr>
        <p:spPr>
          <a:xfrm>
            <a:off x="109728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단계제목 1"/>
          <p:cNvSpPr txBox="1"/>
          <p:nvPr/>
        </p:nvSpPr>
        <p:spPr>
          <a:xfrm>
            <a:off x="1097280" y="3017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가장 귀찮은 일 하나 고르기</a:t>
            </a:r>
            <a:endParaRPr lang="en-US" sz="1800" dirty="0"/>
          </a:p>
        </p:txBody>
      </p:sp>
      <p:sp>
        <p:nvSpPr>
          <p:cNvPr id="7" name="단계설명 1"/>
          <p:cNvSpPr txBox="1"/>
          <p:nvPr/>
        </p:nvSpPr>
        <p:spPr>
          <a:xfrm>
            <a:off x="1097280" y="35204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매주 반복하는 일, 엑셀 손작업, 복사·붙여넣기 중 가장 싫은 일 하나만 고르세요.</a:t>
            </a:r>
            <a:endParaRPr lang="en-US" sz="1400" dirty="0"/>
          </a:p>
        </p:txBody>
      </p:sp>
      <p:sp>
        <p:nvSpPr>
          <p:cNvPr id="8" name="단계카드 2"/>
          <p:cNvSpPr/>
          <p:nvPr/>
        </p:nvSpPr>
        <p:spPr>
          <a:xfrm>
            <a:off x="4434840" y="1965960"/>
            <a:ext cx="3383280" cy="2926080"/>
          </a:xfrm>
          <a:prstGeom prst="roundRect">
            <a:avLst>
              <a:gd name="adj" fmla="val 37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단계원 2"/>
          <p:cNvSpPr/>
          <p:nvPr/>
        </p:nvSpPr>
        <p:spPr>
          <a:xfrm>
            <a:off x="4709160" y="22402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단계번호 2"/>
          <p:cNvSpPr txBox="1"/>
          <p:nvPr/>
        </p:nvSpPr>
        <p:spPr>
          <a:xfrm>
            <a:off x="470916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단계제목 2"/>
          <p:cNvSpPr txBox="1"/>
          <p:nvPr/>
        </p:nvSpPr>
        <p:spPr>
          <a:xfrm>
            <a:off x="4709160" y="3017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스크립트를 고쳐서 붙여넣기</a:t>
            </a:r>
            <a:endParaRPr lang="en-US" sz="1800" dirty="0"/>
          </a:p>
        </p:txBody>
      </p:sp>
      <p:sp>
        <p:nvSpPr>
          <p:cNvPr id="12" name="단계설명 2"/>
          <p:cNvSpPr txBox="1"/>
          <p:nvPr/>
        </p:nvSpPr>
        <p:spPr>
          <a:xfrm>
            <a:off x="4709160" y="35204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30개 중 비슷한 사례의 스크립트를 복사해 파일 이름·항목 이름만 내 상황에 맞게 바꾸세요.</a:t>
            </a:r>
            <a:endParaRPr lang="en-US" sz="1400" dirty="0"/>
          </a:p>
        </p:txBody>
      </p:sp>
      <p:sp>
        <p:nvSpPr>
          <p:cNvPr id="13" name="단계카드 3"/>
          <p:cNvSpPr/>
          <p:nvPr/>
        </p:nvSpPr>
        <p:spPr>
          <a:xfrm>
            <a:off x="8046720" y="1965960"/>
            <a:ext cx="3383280" cy="2926080"/>
          </a:xfrm>
          <a:prstGeom prst="roundRect">
            <a:avLst>
              <a:gd name="adj" fmla="val 37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단계원 3"/>
          <p:cNvSpPr/>
          <p:nvPr/>
        </p:nvSpPr>
        <p:spPr>
          <a:xfrm>
            <a:off x="8321040" y="224028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단계번호 3"/>
          <p:cNvSpPr txBox="1"/>
          <p:nvPr/>
        </p:nvSpPr>
        <p:spPr>
          <a:xfrm>
            <a:off x="832104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단계제목 3"/>
          <p:cNvSpPr txBox="1"/>
          <p:nvPr/>
        </p:nvSpPr>
        <p:spPr>
          <a:xfrm>
            <a:off x="8321040" y="3017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결과를 보고 한 줄씩 고치기</a:t>
            </a:r>
            <a:endParaRPr lang="en-US" sz="1800" dirty="0"/>
          </a:p>
        </p:txBody>
      </p:sp>
      <p:sp>
        <p:nvSpPr>
          <p:cNvPr id="17" name="단계설명 3"/>
          <p:cNvSpPr txBox="1"/>
          <p:nvPr/>
        </p:nvSpPr>
        <p:spPr>
          <a:xfrm>
            <a:off x="8321040" y="35204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한 번에 완벽을 기대하지 말고, 마음에 안 드는 부분을 한 줄씩 말로 고쳐달라고 하세요.</a:t>
            </a:r>
            <a:endParaRPr lang="en-US" sz="1400" dirty="0"/>
          </a:p>
        </p:txBody>
      </p:sp>
      <p:sp>
        <p:nvSpPr>
          <p:cNvPr id="18" name="주의 문구"/>
          <p:cNvSpPr txBox="1"/>
          <p:nvPr/>
        </p:nvSpPr>
        <p:spPr>
          <a:xfrm>
            <a:off x="822960" y="50749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주의 1: 회사 자료·고객 정보·계약 정보를 AI에 입력하기 전에, 사내 보안 규정(허용 범위)을 먼저 확인하세요. 모르겠다면 가짜 샘플로 먼저 만들어보세요.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주의 2: 웹 수집(크롤링)은 공식 API·RSS를 먼저 찾고, 사이트 약관과 robots.txt를 확인한 뒤 천천히, 적게 가져오세요.</a:t>
            </a:r>
            <a:endParaRPr lang="en-US" sz="1400" dirty="0"/>
          </a:p>
        </p:txBody>
      </p:sp>
      <p:sp>
        <p:nvSpPr>
          <p:cNvPr id="19" name="마무리 용어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2"/>
                </a:solidFill>
              </a:rPr>
              <a:t>※ 용어 참고   </a:t>
            </a:r>
            <a:pPr indent="0" marL="0">
              <a:buNone/>
            </a:pPr>
            <a:r>
              <a:rPr lang="en-US" sz="1050" b="1" dirty="0">
                <a:solidFill>
                  <a:schemeClr val="bg2"/>
                </a:solidFill>
              </a:rPr>
              <a:t>보안 규정</a:t>
            </a:r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 = 회사가 정한 자료 반출·외부 AI 사용 기준     ▪     </a:t>
            </a:r>
            <a:pPr indent="0" marL="0">
              <a:buNone/>
            </a:pPr>
            <a:r>
              <a:rPr lang="en-US" sz="1050" b="1" dirty="0">
                <a:solidFill>
                  <a:schemeClr val="bg2"/>
                </a:solidFill>
              </a:rPr>
              <a:t>샘플 데이터</a:t>
            </a:r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 = 진짜 자료 대신 만든 시험용 가짜 자료     ▪     </a:t>
            </a:r>
            <a:pPr indent="0" marL="0">
              <a:buNone/>
            </a:pPr>
            <a:r>
              <a:rPr lang="en-US" sz="1050" b="1" dirty="0">
                <a:solidFill>
                  <a:schemeClr val="bg2"/>
                </a:solidFill>
              </a:rPr>
              <a:t>robots.txt</a:t>
            </a:r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 = 사이트가 자동 수집 허용 범위를 적어둔 안내 파일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beCoding30">
  <a:themeElements>
    <a:clrScheme name="VibeCoding30">
      <a:dk1>
        <a:srgbClr val="141C26"/>
      </a:dk1>
      <a:lt1>
        <a:srgbClr val="FFFFFF"/>
      </a:lt1>
      <a:dk2>
        <a:srgbClr val="1F2D3D"/>
      </a:dk2>
      <a:lt2>
        <a:srgbClr val="EFF3F6"/>
      </a:lt2>
      <a:accent1>
        <a:srgbClr val="0E7C72"/>
      </a:accent1>
      <a:accent2>
        <a:srgbClr val="D9482B"/>
      </a:accent2>
      <a:accent3>
        <a:srgbClr val="3A6EA5"/>
      </a:accent3>
      <a:accent4>
        <a:srgbClr val="8250A0"/>
      </a:accent4>
      <a:accent5>
        <a:srgbClr val="A86A0F"/>
      </a:accent5>
      <a:accent6>
        <a:srgbClr val="2A8F52"/>
      </a:accent6>
      <a:hlink>
        <a:srgbClr val="3A6EA5"/>
      </a:hlink>
      <a:folHlink>
        <a:srgbClr val="8250A0"/>
      </a:folHlink>
    </a:clrScheme>
    <a:fontScheme name="VibeCoding30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바이브코딩으로 직장인이 만드는 30가지 + 보너스 5</dc:title>
  <dc:subject>PptxGenJS Presentation</dc:subject>
  <dc:creator>Claude</dc:creator>
  <cp:lastModifiedBy>Claude</cp:lastModifiedBy>
  <cp:revision>1</cp:revision>
  <dcterms:created xsi:type="dcterms:W3CDTF">2026-10-27T10:49:26Z</dcterms:created>
  <dcterms:modified xsi:type="dcterms:W3CDTF">2026-10-27T10:49:26Z</dcterms:modified>
</cp:coreProperties>
</file>