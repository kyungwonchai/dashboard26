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Pretendard"/>
              </a:defRPr>
            </a:pPr>
            <a:r>
              <a:t>🎯 4시간 만에 끝내는 Gemini CLI 대시보드 심화 커리큘럼</a:t>
            </a:r>
          </a:p>
          <a:p>
            <a:pPr>
              <a:defRPr sz="1300">
                <a:solidFill>
                  <a:srgbClr val="9BA1B6"/>
                </a:solidFill>
                <a:latin typeface="Pretendard"/>
              </a:defRPr>
            </a:pPr>
            <a:r>
              <a:t>LLM의 본질: '왜(Why) · 무엇을(What) · 어떻게(How)'의 명확한 의도와 파일 규칙(GEMINI.md)이 완벽한 결과를 만듭니다.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14600" cy="4389120"/>
          </a:xfrm>
          <a:prstGeom prst="roundRect">
            <a:avLst/>
          </a:prstGeom>
          <a:solidFill>
            <a:srgbClr val="0E101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200" b="1">
                <a:solidFill>
                  <a:srgbClr val="06B6D4"/>
                </a:solidFill>
                <a:latin typeface="Pretendard"/>
              </a:defRPr>
            </a:pPr>
            <a:r>
              <a:t>1교시 (50분)</a:t>
            </a:r>
          </a:p>
          <a:p>
            <a:pPr>
              <a:spcAft>
                <a:spcPts val="1400"/>
              </a:spcAft>
              <a:defRPr sz="1500" b="1">
                <a:solidFill>
                  <a:srgbClr val="F1F3F9"/>
                </a:solidFill>
                <a:latin typeface="Pretendard"/>
              </a:defRPr>
            </a:pPr>
            <a:r>
              <a:t>[이론 &amp; 뼈대] 규칙 주입 &amp; 웹서버</a:t>
            </a:r>
          </a:p>
          <a:p>
            <a:pPr>
              <a:lnSpc>
                <a:spcPct val="130000"/>
              </a:lnSpc>
              <a:defRPr sz="1100">
                <a:solidFill>
                  <a:srgbClr val="9BA1B6"/>
                </a:solidFill>
                <a:latin typeface="Pretendard"/>
              </a:defRPr>
            </a:pPr>
            <a:r>
              <a:t>• 바이브코딩 철학과 GEMINI.md 설계</a:t>
            </a:r>
            <a:br/>
            <a:r>
              <a:t>• 프롬프트 3대 축 (Why · What · How)</a:t>
            </a:r>
            <a:br/>
            <a:r>
              <a:t>• Flask 가상환경 생성 및 서버 틀</a:t>
            </a:r>
            <a:br/>
            <a:r>
              <a:t>• 상단 4대 지표 카드 &amp; 반응형 메뉴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5576" y="1828800"/>
            <a:ext cx="2514600" cy="4389120"/>
          </a:xfrm>
          <a:prstGeom prst="roundRect">
            <a:avLst/>
          </a:prstGeom>
          <a:solidFill>
            <a:srgbClr val="0E101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200" b="1">
                <a:solidFill>
                  <a:srgbClr val="8B5CF6"/>
                </a:solidFill>
                <a:latin typeface="Pretendard"/>
              </a:defRPr>
            </a:pPr>
            <a:r>
              <a:t>2교시 (50분)</a:t>
            </a:r>
          </a:p>
          <a:p>
            <a:pPr>
              <a:spcAft>
                <a:spcPts val="1400"/>
              </a:spcAft>
              <a:defRPr sz="1500" b="1">
                <a:solidFill>
                  <a:srgbClr val="F1F3F9"/>
                </a:solidFill>
                <a:latin typeface="Pretendard"/>
              </a:defRPr>
            </a:pPr>
            <a:r>
              <a:t>[데이터] SQLite DB &amp; 개인화</a:t>
            </a:r>
          </a:p>
          <a:p>
            <a:pPr>
              <a:lnSpc>
                <a:spcPct val="130000"/>
              </a:lnSpc>
              <a:defRPr sz="1100">
                <a:solidFill>
                  <a:srgbClr val="9BA1B6"/>
                </a:solidFill>
                <a:latin typeface="Pretendard"/>
              </a:defRPr>
            </a:pPr>
            <a:r>
              <a:t>• 단일 파일형 DB(dashboard.db) 설계</a:t>
            </a:r>
            <a:br/>
            <a:r>
              <a:t>• 팀 할 일 CRUD 및 마감 지연 감지</a:t>
            </a:r>
            <a:br/>
            <a:r>
              <a:t>• '나는 누구?' 내 업무 필터링 로직</a:t>
            </a:r>
            <a:br/>
            <a:r>
              <a:t>• 30초 실시간 자동 갱신 팀 현황판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828800"/>
            <a:ext cx="2514600" cy="4389120"/>
          </a:xfrm>
          <a:prstGeom prst="roundRect">
            <a:avLst/>
          </a:prstGeom>
          <a:solidFill>
            <a:srgbClr val="0E101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200" b="1">
                <a:solidFill>
                  <a:srgbClr val="10B981"/>
                </a:solidFill>
                <a:latin typeface="Pretendard"/>
              </a:defRPr>
            </a:pPr>
            <a:r>
              <a:t>3교시 (50분)</a:t>
            </a:r>
          </a:p>
          <a:p>
            <a:pPr>
              <a:spcAft>
                <a:spcPts val="1400"/>
              </a:spcAft>
              <a:defRPr sz="1500" b="1">
                <a:solidFill>
                  <a:srgbClr val="F1F3F9"/>
                </a:solidFill>
                <a:latin typeface="Pretendard"/>
              </a:defRPr>
            </a:pPr>
            <a:r>
              <a:t>[자동화] 엑셀 파싱 &amp; Chart.js</a:t>
            </a:r>
          </a:p>
          <a:p>
            <a:pPr>
              <a:lnSpc>
                <a:spcPct val="130000"/>
              </a:lnSpc>
              <a:defRPr sz="1100">
                <a:solidFill>
                  <a:srgbClr val="9BA1B6"/>
                </a:solidFill>
                <a:latin typeface="Pretendard"/>
              </a:defRPr>
            </a:pPr>
            <a:r>
              <a:t>• openpyxl 엑셀 업로드/오류 사전검증</a:t>
            </a:r>
            <a:br/>
            <a:r>
              <a:t>• 빈 엑셀 양식 자동 다운로드</a:t>
            </a:r>
            <a:br/>
            <a:r>
              <a:t>• Chart.js 완료건수/소요시간 시각화</a:t>
            </a:r>
            <a:br/>
            <a:r>
              <a:t>• 원클릭 주간보고 텍스트/엑셀 생성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33688" y="1828800"/>
            <a:ext cx="2514600" cy="4389120"/>
          </a:xfrm>
          <a:prstGeom prst="roundRect">
            <a:avLst/>
          </a:prstGeom>
          <a:solidFill>
            <a:srgbClr val="0E101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200" b="1">
                <a:solidFill>
                  <a:srgbClr val="F59E0B"/>
                </a:solidFill>
                <a:latin typeface="Pretendard"/>
              </a:defRPr>
            </a:pPr>
            <a:r>
              <a:t>4교시 (50분)</a:t>
            </a:r>
          </a:p>
          <a:p>
            <a:pPr>
              <a:spcAft>
                <a:spcPts val="1400"/>
              </a:spcAft>
              <a:defRPr sz="1500" b="1">
                <a:solidFill>
                  <a:srgbClr val="F1F3F9"/>
                </a:solidFill>
                <a:latin typeface="Pretendard"/>
              </a:defRPr>
            </a:pPr>
            <a:r>
              <a:t>[배포 &amp; 비전] 원클릭 실행 &amp; 공유</a:t>
            </a:r>
          </a:p>
          <a:p>
            <a:pPr>
              <a:lnSpc>
                <a:spcPct val="130000"/>
              </a:lnSpc>
              <a:defRPr sz="1100">
                <a:solidFill>
                  <a:srgbClr val="9BA1B6"/>
                </a:solidFill>
                <a:latin typeface="Pretendard"/>
              </a:defRPr>
            </a:pPr>
            <a:r>
              <a:t>• start.bat 원클릭 기동 및 7회 회전 백업</a:t>
            </a:r>
            <a:br/>
            <a:r>
              <a:t>• 사내망 0.0.0.0 팀 공유 모드</a:t>
            </a:r>
            <a:br/>
            <a:r>
              <a:t>• GitHub Pages + 구글시트 무료 배포</a:t>
            </a:r>
            <a:br/>
            <a:r>
              <a:t>• Google AI Studio &amp; NotebookLM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Pretendard"/>
              </a:defRPr>
            </a:pPr>
            <a:r>
              <a:t>🚀 AI 비전 로드맵: 시작이 반(半)이며, 경험이 지혜가 된다</a:t>
            </a:r>
          </a:p>
          <a:p>
            <a:pPr>
              <a:defRPr sz="1300">
                <a:solidFill>
                  <a:srgbClr val="9BA1B6"/>
                </a:solidFill>
                <a:latin typeface="Pretendard"/>
              </a:defRPr>
            </a:pPr>
            <a:r>
              <a:t>AI 추론 비용은 매년 1/10로 급락합니다. 비용이 공짜가 될 미래를 지금 직접 만들어본 '경험'으로 선점하십시오.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0E101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600" b="1">
                <a:solidFill>
                  <a:srgbClr val="8B5CF6"/>
                </a:solidFill>
                <a:latin typeface="Pretendard"/>
              </a:defRPr>
            </a:pPr>
            <a:r>
              <a:t>💡 1. 학습 ↔ 제작 선순환</a:t>
            </a:r>
          </a:p>
          <a:p>
            <a:pPr>
              <a:spcAft>
                <a:spcPts val="1400"/>
              </a:spcAft>
              <a:defRPr sz="1200">
                <a:solidFill>
                  <a:srgbClr val="F1F3F9"/>
                </a:solidFill>
                <a:latin typeface="Pretendard"/>
              </a:defRPr>
            </a:pPr>
            <a:r>
              <a:t>경험이 곧 기회의 눈</a:t>
            </a:r>
          </a:p>
          <a:p>
            <a:pPr>
              <a:lnSpc>
                <a:spcPct val="135000"/>
              </a:lnSpc>
              <a:defRPr sz="1100">
                <a:solidFill>
                  <a:srgbClr val="9BA1B6"/>
                </a:solidFill>
                <a:latin typeface="Pretendard"/>
              </a:defRPr>
            </a:pPr>
            <a:r>
              <a:t>• 완벽을 기다리지 말고 지금 작은 화면부터 시작</a:t>
            </a:r>
            <a:br/>
            <a:r>
              <a:t>• [학습 ➔ 제작 ➔ 피드백 ➔ 효율화] 사이클</a:t>
            </a:r>
            <a:br/>
            <a:r>
              <a:t>• 코드를 몰라도 아이디어를 SW로 빚는 감각 체화</a:t>
            </a:r>
            <a:br/>
            <a:r>
              <a:t>• 미래 AI 대중화 시대에 무엇을 만들지 꿰뚫는 통찰 확보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4389120"/>
          </a:xfrm>
          <a:prstGeom prst="roundRect">
            <a:avLst/>
          </a:prstGeom>
          <a:solidFill>
            <a:srgbClr val="0E101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600" b="1">
                <a:solidFill>
                  <a:srgbClr val="06B6D4"/>
                </a:solidFill>
                <a:latin typeface="Pretendard"/>
              </a:defRPr>
            </a:pPr>
            <a:r>
              <a:t>🛠️ 2. 차세대 AI 제작 도구</a:t>
            </a:r>
          </a:p>
          <a:p>
            <a:pPr>
              <a:spcAft>
                <a:spcPts val="1400"/>
              </a:spcAft>
              <a:defRPr sz="1200">
                <a:solidFill>
                  <a:srgbClr val="F1F3F9"/>
                </a:solidFill>
                <a:latin typeface="Pretendard"/>
              </a:defRPr>
            </a:pPr>
            <a:r>
              <a:t>Google AI Studio &amp; NotebookLM</a:t>
            </a:r>
          </a:p>
          <a:p>
            <a:pPr>
              <a:lnSpc>
                <a:spcPct val="135000"/>
              </a:lnSpc>
              <a:defRPr sz="1100">
                <a:solidFill>
                  <a:srgbClr val="9BA1B6"/>
                </a:solidFill>
                <a:latin typeface="Pretendard"/>
              </a:defRPr>
            </a:pPr>
            <a:r>
              <a:t>• Google AI Studio (ai.google.dev)</a:t>
            </a:r>
            <a:br/>
            <a:r>
              <a:t>  - 최신 Gemini 2.5 무료 API 엔지니어링 놀이터</a:t>
            </a:r>
            <a:br/>
            <a:r>
              <a:t>  - 시스템 프롬프트 및 멀티모달 GUI 설계</a:t>
            </a:r>
            <a:br/>
            <a:r>
              <a:t>• Google NotebookLM (notebooklm.google.com)</a:t>
            </a:r>
            <a:br/>
            <a:r>
              <a:t>  - 내 문서 100% 근거 기반 RAG 지식 비서</a:t>
            </a:r>
            <a:br/>
            <a:r>
              <a:t>  - 할루시네이션 제로 + 딥다이브 오디오 팟캐스트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4389120"/>
          </a:xfrm>
          <a:prstGeom prst="roundRect">
            <a:avLst/>
          </a:prstGeom>
          <a:solidFill>
            <a:srgbClr val="0E101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defRPr sz="1600" b="1">
                <a:solidFill>
                  <a:srgbClr val="10B981"/>
                </a:solidFill>
                <a:latin typeface="Pretendard"/>
              </a:defRPr>
            </a:pPr>
            <a:r>
              <a:t>🌐 3. 구글 기업 철학의 접목</a:t>
            </a:r>
          </a:p>
          <a:p>
            <a:pPr>
              <a:spcAft>
                <a:spcPts val="1400"/>
              </a:spcAft>
              <a:defRPr sz="1200">
                <a:solidFill>
                  <a:srgbClr val="F1F3F9"/>
                </a:solidFill>
                <a:latin typeface="Pretendard"/>
              </a:defRPr>
            </a:pPr>
            <a:r>
              <a:t>바이브코딩의 3대 황금률</a:t>
            </a:r>
          </a:p>
          <a:p>
            <a:pPr>
              <a:lnSpc>
                <a:spcPct val="135000"/>
              </a:lnSpc>
              <a:defRPr sz="1100">
                <a:solidFill>
                  <a:srgbClr val="9BA1B6"/>
                </a:solidFill>
                <a:latin typeface="Pretendard"/>
              </a:defRPr>
            </a:pPr>
            <a:r>
              <a:t>• Focus on the user (사용자에게 집중하라)</a:t>
            </a:r>
            <a:br/>
            <a:r>
              <a:t>  - 기술 과시가 아닌 동료의 실제 고통을 해결</a:t>
            </a:r>
            <a:br/>
            <a:r>
              <a:t>• Do one thing really well (한 가지를 완벽히)</a:t>
            </a:r>
            <a:br/>
            <a:r>
              <a:t>  - 거창함 대신 할 일 관리 하나를 제대로 작동</a:t>
            </a:r>
            <a:br/>
            <a:r>
              <a:t>• Launch and Iterate (일단 출시하고 개선하라)</a:t>
            </a:r>
            <a:br/>
            <a:r>
              <a:t>  - 피드백을 통해 매일 진화시키는 애자일 마인드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